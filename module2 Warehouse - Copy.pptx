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sldIdLst>
    <p:sldId id="257" r:id="rId5"/>
    <p:sldId id="258" r:id="rId6"/>
    <p:sldId id="259" r:id="rId7"/>
    <p:sldId id="264" r:id="rId8"/>
    <p:sldId id="260" r:id="rId9"/>
    <p:sldId id="265" r:id="rId10"/>
    <p:sldId id="261" r:id="rId11"/>
    <p:sldId id="266" r:id="rId12"/>
    <p:sldId id="267" r:id="rId13"/>
    <p:sldId id="262" r:id="rId14"/>
    <p:sldId id="263"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0A44A8-F5E1-7AC8-6DCE-D9E077DDF76B}" v="39" dt="2025-11-05T11:33:18.4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pana Pundir" userId="S::kalpana.pundir@complereinfosystem.com::4ce75027-9be7-421e-97fb-00c15f694c20" providerId="AD" clId="Web-{180A44A8-F5E1-7AC8-6DCE-D9E077DDF76B}"/>
    <pc:docChg chg="modSld">
      <pc:chgData name="Kalpana Pundir" userId="S::kalpana.pundir@complereinfosystem.com::4ce75027-9be7-421e-97fb-00c15f694c20" providerId="AD" clId="Web-{180A44A8-F5E1-7AC8-6DCE-D9E077DDF76B}" dt="2025-11-05T11:33:17.223" v="17" actId="20577"/>
      <pc:docMkLst>
        <pc:docMk/>
      </pc:docMkLst>
      <pc:sldChg chg="modSp">
        <pc:chgData name="Kalpana Pundir" userId="S::kalpana.pundir@complereinfosystem.com::4ce75027-9be7-421e-97fb-00c15f694c20" providerId="AD" clId="Web-{180A44A8-F5E1-7AC8-6DCE-D9E077DDF76B}" dt="2025-11-05T11:30:52.706" v="0" actId="20577"/>
        <pc:sldMkLst>
          <pc:docMk/>
          <pc:sldMk cId="1471484346" sldId="259"/>
        </pc:sldMkLst>
        <pc:spChg chg="mod">
          <ac:chgData name="Kalpana Pundir" userId="S::kalpana.pundir@complereinfosystem.com::4ce75027-9be7-421e-97fb-00c15f694c20" providerId="AD" clId="Web-{180A44A8-F5E1-7AC8-6DCE-D9E077DDF76B}" dt="2025-11-05T11:30:52.706" v="0" actId="20577"/>
          <ac:spMkLst>
            <pc:docMk/>
            <pc:sldMk cId="1471484346" sldId="259"/>
            <ac:spMk id="5" creationId="{9B392E54-3D0E-D388-2924-6DED5FBFA223}"/>
          </ac:spMkLst>
        </pc:spChg>
      </pc:sldChg>
      <pc:sldChg chg="modSp">
        <pc:chgData name="Kalpana Pundir" userId="S::kalpana.pundir@complereinfosystem.com::4ce75027-9be7-421e-97fb-00c15f694c20" providerId="AD" clId="Web-{180A44A8-F5E1-7AC8-6DCE-D9E077DDF76B}" dt="2025-11-05T11:31:22.565" v="4" actId="20577"/>
        <pc:sldMkLst>
          <pc:docMk/>
          <pc:sldMk cId="3174460109" sldId="260"/>
        </pc:sldMkLst>
        <pc:spChg chg="mod">
          <ac:chgData name="Kalpana Pundir" userId="S::kalpana.pundir@complereinfosystem.com::4ce75027-9be7-421e-97fb-00c15f694c20" providerId="AD" clId="Web-{180A44A8-F5E1-7AC8-6DCE-D9E077DDF76B}" dt="2025-11-05T11:31:22.565" v="4" actId="20577"/>
          <ac:spMkLst>
            <pc:docMk/>
            <pc:sldMk cId="3174460109" sldId="260"/>
            <ac:spMk id="5" creationId="{62661404-49D9-D097-B824-4975661E1478}"/>
          </ac:spMkLst>
        </pc:spChg>
      </pc:sldChg>
      <pc:sldChg chg="modSp">
        <pc:chgData name="Kalpana Pundir" userId="S::kalpana.pundir@complereinfosystem.com::4ce75027-9be7-421e-97fb-00c15f694c20" providerId="AD" clId="Web-{180A44A8-F5E1-7AC8-6DCE-D9E077DDF76B}" dt="2025-11-05T11:32:23.128" v="12" actId="20577"/>
        <pc:sldMkLst>
          <pc:docMk/>
          <pc:sldMk cId="482200586" sldId="261"/>
        </pc:sldMkLst>
        <pc:spChg chg="mod">
          <ac:chgData name="Kalpana Pundir" userId="S::kalpana.pundir@complereinfosystem.com::4ce75027-9be7-421e-97fb-00c15f694c20" providerId="AD" clId="Web-{180A44A8-F5E1-7AC8-6DCE-D9E077DDF76B}" dt="2025-11-05T11:32:23.128" v="12" actId="20577"/>
          <ac:spMkLst>
            <pc:docMk/>
            <pc:sldMk cId="482200586" sldId="261"/>
            <ac:spMk id="5" creationId="{B94FD9C7-52B2-76A6-F318-D0402094F2C7}"/>
          </ac:spMkLst>
        </pc:spChg>
      </pc:sldChg>
      <pc:sldChg chg="modSp">
        <pc:chgData name="Kalpana Pundir" userId="S::kalpana.pundir@complereinfosystem.com::4ce75027-9be7-421e-97fb-00c15f694c20" providerId="AD" clId="Web-{180A44A8-F5E1-7AC8-6DCE-D9E077DDF76B}" dt="2025-11-05T11:31:11.893" v="2" actId="20577"/>
        <pc:sldMkLst>
          <pc:docMk/>
          <pc:sldMk cId="213420574" sldId="264"/>
        </pc:sldMkLst>
        <pc:spChg chg="mod">
          <ac:chgData name="Kalpana Pundir" userId="S::kalpana.pundir@complereinfosystem.com::4ce75027-9be7-421e-97fb-00c15f694c20" providerId="AD" clId="Web-{180A44A8-F5E1-7AC8-6DCE-D9E077DDF76B}" dt="2025-11-05T11:31:11.893" v="2" actId="20577"/>
          <ac:spMkLst>
            <pc:docMk/>
            <pc:sldMk cId="213420574" sldId="264"/>
            <ac:spMk id="5" creationId="{FB29F728-CAF5-300A-B34A-4717389CF40A}"/>
          </ac:spMkLst>
        </pc:spChg>
      </pc:sldChg>
      <pc:sldChg chg="modSp">
        <pc:chgData name="Kalpana Pundir" userId="S::kalpana.pundir@complereinfosystem.com::4ce75027-9be7-421e-97fb-00c15f694c20" providerId="AD" clId="Web-{180A44A8-F5E1-7AC8-6DCE-D9E077DDF76B}" dt="2025-11-05T11:32:27.160" v="14" actId="20577"/>
        <pc:sldMkLst>
          <pc:docMk/>
          <pc:sldMk cId="1243720305" sldId="266"/>
        </pc:sldMkLst>
        <pc:spChg chg="mod">
          <ac:chgData name="Kalpana Pundir" userId="S::kalpana.pundir@complereinfosystem.com::4ce75027-9be7-421e-97fb-00c15f694c20" providerId="AD" clId="Web-{180A44A8-F5E1-7AC8-6DCE-D9E077DDF76B}" dt="2025-11-05T11:32:27.160" v="14" actId="20577"/>
          <ac:spMkLst>
            <pc:docMk/>
            <pc:sldMk cId="1243720305" sldId="266"/>
            <ac:spMk id="5" creationId="{EB4084C1-46D4-CF56-3865-3AD58771F5F3}"/>
          </ac:spMkLst>
        </pc:spChg>
      </pc:sldChg>
      <pc:sldChg chg="modSp">
        <pc:chgData name="Kalpana Pundir" userId="S::kalpana.pundir@complereinfosystem.com::4ce75027-9be7-421e-97fb-00c15f694c20" providerId="AD" clId="Web-{180A44A8-F5E1-7AC8-6DCE-D9E077DDF76B}" dt="2025-11-05T11:33:17.223" v="17" actId="20577"/>
        <pc:sldMkLst>
          <pc:docMk/>
          <pc:sldMk cId="2882794005" sldId="268"/>
        </pc:sldMkLst>
        <pc:spChg chg="mod">
          <ac:chgData name="Kalpana Pundir" userId="S::kalpana.pundir@complereinfosystem.com::4ce75027-9be7-421e-97fb-00c15f694c20" providerId="AD" clId="Web-{180A44A8-F5E1-7AC8-6DCE-D9E077DDF76B}" dt="2025-11-05T11:33:17.223" v="17" actId="20577"/>
          <ac:spMkLst>
            <pc:docMk/>
            <pc:sldMk cId="2882794005" sldId="268"/>
            <ac:spMk id="5" creationId="{0C5A0FBB-7510-56F6-C048-43C44932A19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8F2036-6BAD-4233-B595-0C5D5544646E}"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8EDAC9-15A7-4015-8E9B-3E39DAC54399}" type="slidenum">
              <a:rPr lang="en-US" smtClean="0"/>
              <a:t>‹#›</a:t>
            </a:fld>
            <a:endParaRPr lang="en-US"/>
          </a:p>
        </p:txBody>
      </p:sp>
    </p:spTree>
    <p:extLst>
      <p:ext uri="{BB962C8B-B14F-4D97-AF65-F5344CB8AC3E}">
        <p14:creationId xmlns:p14="http://schemas.microsoft.com/office/powerpoint/2010/main" val="2665622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EA001-19D2-AB32-1CD6-3577F2FC5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940224-6139-9C21-BF46-04D55F546B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ADA60-BB40-3EA3-94A8-E4F40E18D9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AEF2C0-B2B6-000B-34A3-E85D80105756}"/>
              </a:ext>
            </a:extLst>
          </p:cNvPr>
          <p:cNvSpPr>
            <a:spLocks noGrp="1"/>
          </p:cNvSpPr>
          <p:nvPr>
            <p:ph type="sldNum" sz="quarter" idx="5"/>
          </p:nvPr>
        </p:nvSpPr>
        <p:spPr/>
        <p:txBody>
          <a:bodyPr/>
          <a:lstStyle/>
          <a:p>
            <a:fld id="{4169D07A-98AC-4408-9A87-677237176D46}" type="slidenum">
              <a:rPr lang="en-GB" smtClean="0"/>
              <a:t>2</a:t>
            </a:fld>
            <a:endParaRPr lang="en-GB" dirty="0"/>
          </a:p>
        </p:txBody>
      </p:sp>
    </p:spTree>
    <p:extLst>
      <p:ext uri="{BB962C8B-B14F-4D97-AF65-F5344CB8AC3E}">
        <p14:creationId xmlns:p14="http://schemas.microsoft.com/office/powerpoint/2010/main" val="24105072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ontent slide - White">
    <p:bg>
      <p:bgPr>
        <a:solidFill>
          <a:srgbClr val="FEFDFF"/>
        </a:solidFill>
        <a:effectLst/>
      </p:bgPr>
    </p:bg>
    <p:spTree>
      <p:nvGrpSpPr>
        <p:cNvPr id="1" name=""/>
        <p:cNvGrpSpPr/>
        <p:nvPr/>
      </p:nvGrpSpPr>
      <p:grpSpPr>
        <a:xfrm>
          <a:off x="0" y="0"/>
          <a:ext cx="0" cy="0"/>
          <a:chOff x="0" y="0"/>
          <a:chExt cx="0" cy="0"/>
        </a:xfrm>
      </p:grpSpPr>
      <p:sp>
        <p:nvSpPr>
          <p:cNvPr id="20" name="Title 1"/>
          <p:cNvSpPr>
            <a:spLocks noGrp="1"/>
          </p:cNvSpPr>
          <p:nvPr>
            <p:ph type="title" hasCustomPrompt="1"/>
          </p:nvPr>
        </p:nvSpPr>
        <p:spPr>
          <a:xfrm>
            <a:off x="685950" y="571697"/>
            <a:ext cx="10807652" cy="440488"/>
          </a:xfrm>
          <a:prstGeom prst="rect">
            <a:avLst/>
          </a:prstGeom>
        </p:spPr>
        <p:txBody>
          <a:bodyPr lIns="0" tIns="0" rIns="0" bIns="0" anchor="ctr" anchorCtr="0"/>
          <a:lstStyle>
            <a:lvl1pPr algn="l">
              <a:lnSpc>
                <a:spcPts val="2667"/>
              </a:lnSpc>
              <a:defRPr sz="2933" b="1" i="0">
                <a:solidFill>
                  <a:schemeClr val="tx1"/>
                </a:solidFill>
                <a:latin typeface="Arial" charset="0"/>
                <a:ea typeface="Arial" charset="0"/>
                <a:cs typeface="Arial" charset="0"/>
              </a:defRPr>
            </a:lvl1pPr>
          </a:lstStyle>
          <a:p>
            <a:r>
              <a:rPr lang="en-US" dirty="0"/>
              <a:t>Slide title</a:t>
            </a:r>
            <a:endParaRPr lang="en-GB" dirty="0"/>
          </a:p>
        </p:txBody>
      </p:sp>
      <p:sp>
        <p:nvSpPr>
          <p:cNvPr id="3" name="Text Placeholder 2">
            <a:extLst>
              <a:ext uri="{FF2B5EF4-FFF2-40B4-BE49-F238E27FC236}">
                <a16:creationId xmlns:a16="http://schemas.microsoft.com/office/drawing/2014/main" id="{36200608-C600-554E-813F-6D4EC02AF493}"/>
              </a:ext>
            </a:extLst>
          </p:cNvPr>
          <p:cNvSpPr>
            <a:spLocks noGrp="1"/>
          </p:cNvSpPr>
          <p:nvPr>
            <p:ph type="body" sz="quarter" idx="10"/>
          </p:nvPr>
        </p:nvSpPr>
        <p:spPr>
          <a:xfrm>
            <a:off x="569070" y="1583269"/>
            <a:ext cx="10807700" cy="2800351"/>
          </a:xfrm>
          <a:prstGeom prst="rect">
            <a:avLst/>
          </a:prstGeom>
        </p:spPr>
        <p:txBody>
          <a:bodyPr/>
          <a:lstStyle>
            <a:lvl1pPr marL="380981" indent="-380981">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1pPr>
            <a:lvl2pPr marL="598988" indent="-243405">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2pPr>
            <a:lvl3pPr marL="833926" indent="-239173">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3pPr>
            <a:lvl4pPr marL="1077330" indent="-243405">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4pPr>
            <a:lvl5pPr marL="1316502" indent="-239173">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Box 16">
            <a:extLst>
              <a:ext uri="{FF2B5EF4-FFF2-40B4-BE49-F238E27FC236}">
                <a16:creationId xmlns:a16="http://schemas.microsoft.com/office/drawing/2014/main" id="{C95C8156-3E9F-6D42-BC09-E86831EB4BD7}"/>
              </a:ext>
            </a:extLst>
          </p:cNvPr>
          <p:cNvSpPr txBox="1"/>
          <p:nvPr userDrawn="1"/>
        </p:nvSpPr>
        <p:spPr>
          <a:xfrm>
            <a:off x="11469217" y="6576097"/>
            <a:ext cx="666087" cy="194990"/>
          </a:xfrm>
          <a:prstGeom prst="rect">
            <a:avLst/>
          </a:prstGeom>
          <a:noFill/>
        </p:spPr>
        <p:txBody>
          <a:bodyPr wrap="square" rtlCol="0">
            <a:spAutoFit/>
          </a:bodyPr>
          <a:lstStyle/>
          <a:p>
            <a:pPr algn="r"/>
            <a:fld id="{A99FBE0F-E013-8744-85F1-2202A360EF8A}" type="slidenum">
              <a:rPr lang="en-US" sz="667" b="0" i="0" spc="0" baseline="0" smtClean="0">
                <a:solidFill>
                  <a:schemeClr val="bg1"/>
                </a:solidFill>
                <a:latin typeface="Arial" charset="0"/>
                <a:ea typeface="Arial" charset="0"/>
                <a:cs typeface="Arial" charset="0"/>
              </a:rPr>
              <a:pPr algn="r"/>
              <a:t>‹#›</a:t>
            </a:fld>
            <a:endParaRPr lang="en-US" sz="667" b="0" i="0" spc="0" baseline="0" dirty="0">
              <a:solidFill>
                <a:schemeClr val="bg1"/>
              </a:solidFill>
              <a:latin typeface="Arial" charset="0"/>
              <a:ea typeface="Arial" charset="0"/>
              <a:cs typeface="Arial" charset="0"/>
            </a:endParaRPr>
          </a:p>
        </p:txBody>
      </p:sp>
      <p:pic>
        <p:nvPicPr>
          <p:cNvPr id="6" name="Picture 5">
            <a:extLst>
              <a:ext uri="{FF2B5EF4-FFF2-40B4-BE49-F238E27FC236}">
                <a16:creationId xmlns:a16="http://schemas.microsoft.com/office/drawing/2014/main" id="{EA1BCDDE-4B2D-D9CB-1B80-F64BBF7AB97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558997"/>
            <a:ext cx="419279" cy="358907"/>
          </a:xfrm>
          <a:prstGeom prst="rect">
            <a:avLst/>
          </a:prstGeom>
        </p:spPr>
      </p:pic>
      <p:grpSp>
        <p:nvGrpSpPr>
          <p:cNvPr id="9" name="Group 8">
            <a:extLst>
              <a:ext uri="{FF2B5EF4-FFF2-40B4-BE49-F238E27FC236}">
                <a16:creationId xmlns:a16="http://schemas.microsoft.com/office/drawing/2014/main" id="{B80FCFB7-345B-5532-901F-FB3C2AA30452}"/>
              </a:ext>
            </a:extLst>
          </p:cNvPr>
          <p:cNvGrpSpPr/>
          <p:nvPr userDrawn="1"/>
        </p:nvGrpSpPr>
        <p:grpSpPr>
          <a:xfrm>
            <a:off x="-56699" y="6286303"/>
            <a:ext cx="12248699" cy="582884"/>
            <a:chOff x="-42524" y="4714727"/>
            <a:chExt cx="9186524" cy="437163"/>
          </a:xfrm>
        </p:grpSpPr>
        <p:pic>
          <p:nvPicPr>
            <p:cNvPr id="10" name="Picture 9">
              <a:extLst>
                <a:ext uri="{FF2B5EF4-FFF2-40B4-BE49-F238E27FC236}">
                  <a16:creationId xmlns:a16="http://schemas.microsoft.com/office/drawing/2014/main" id="{FAD3E70E-8207-1DD9-A0BA-C9B76DADC2A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2524" y="4714727"/>
              <a:ext cx="9186524" cy="437163"/>
            </a:xfrm>
            <a:prstGeom prst="rect">
              <a:avLst/>
            </a:prstGeom>
          </p:spPr>
        </p:pic>
        <p:grpSp>
          <p:nvGrpSpPr>
            <p:cNvPr id="11" name="Group 10">
              <a:extLst>
                <a:ext uri="{FF2B5EF4-FFF2-40B4-BE49-F238E27FC236}">
                  <a16:creationId xmlns:a16="http://schemas.microsoft.com/office/drawing/2014/main" id="{57882186-B640-AD70-6515-3EE323ECF299}"/>
                </a:ext>
              </a:extLst>
            </p:cNvPr>
            <p:cNvGrpSpPr/>
            <p:nvPr userDrawn="1"/>
          </p:nvGrpSpPr>
          <p:grpSpPr>
            <a:xfrm>
              <a:off x="157229" y="4832170"/>
              <a:ext cx="1798358" cy="269180"/>
              <a:chOff x="314460" y="4647384"/>
              <a:chExt cx="2355272" cy="359852"/>
            </a:xfrm>
          </p:grpSpPr>
          <p:pic>
            <p:nvPicPr>
              <p:cNvPr id="12" name="Picture 11" descr="A black background with white text&#10;&#10;AI-generated content may be incorrect.">
                <a:extLst>
                  <a:ext uri="{FF2B5EF4-FFF2-40B4-BE49-F238E27FC236}">
                    <a16:creationId xmlns:a16="http://schemas.microsoft.com/office/drawing/2014/main" id="{14B8BAAB-1A0E-E7F6-9140-98409B12FFEE}"/>
                  </a:ext>
                </a:extLst>
              </p:cNvPr>
              <p:cNvPicPr>
                <a:picLocks noChangeAspect="1"/>
              </p:cNvPicPr>
              <p:nvPr userDrawn="1"/>
            </p:nvPicPr>
            <p:blipFill>
              <a:blip r:embed="rId4">
                <a:extLst>
                  <a:ext uri="{28A0092B-C50C-407E-A947-70E740481C1C}">
                    <a14:useLocalDpi xmlns:a14="http://schemas.microsoft.com/office/drawing/2010/main" val="0"/>
                  </a:ext>
                </a:extLst>
              </a:blip>
              <a:srcRect l="22043" t="31741" r="22676" b="46337"/>
              <a:stretch/>
            </p:blipFill>
            <p:spPr>
              <a:xfrm>
                <a:off x="314460" y="4647384"/>
                <a:ext cx="907472" cy="359852"/>
              </a:xfrm>
              <a:prstGeom prst="rect">
                <a:avLst/>
              </a:prstGeom>
            </p:spPr>
          </p:pic>
          <p:pic>
            <p:nvPicPr>
              <p:cNvPr id="13" name="Picture 12" descr="A black background with white text&#10;&#10;AI-generated content may be incorrect.">
                <a:extLst>
                  <a:ext uri="{FF2B5EF4-FFF2-40B4-BE49-F238E27FC236}">
                    <a16:creationId xmlns:a16="http://schemas.microsoft.com/office/drawing/2014/main" id="{7C5C02F2-245D-A75B-547C-7883F417D6DC}"/>
                  </a:ext>
                </a:extLst>
              </p:cNvPr>
              <p:cNvPicPr>
                <a:picLocks noChangeAspect="1"/>
              </p:cNvPicPr>
              <p:nvPr userDrawn="1"/>
            </p:nvPicPr>
            <p:blipFill>
              <a:blip r:embed="rId5">
                <a:extLst>
                  <a:ext uri="{28A0092B-C50C-407E-A947-70E740481C1C}">
                    <a14:useLocalDpi xmlns:a14="http://schemas.microsoft.com/office/drawing/2010/main" val="0"/>
                  </a:ext>
                </a:extLst>
              </a:blip>
              <a:srcRect l="25307" t="53939" r="23341" b="35665"/>
              <a:stretch/>
            </p:blipFill>
            <p:spPr>
              <a:xfrm>
                <a:off x="1221932" y="4714151"/>
                <a:ext cx="1447800" cy="293085"/>
              </a:xfrm>
              <a:prstGeom prst="rect">
                <a:avLst/>
              </a:prstGeom>
            </p:spPr>
          </p:pic>
        </p:grpSp>
      </p:grpSp>
    </p:spTree>
    <p:extLst>
      <p:ext uri="{BB962C8B-B14F-4D97-AF65-F5344CB8AC3E}">
        <p14:creationId xmlns:p14="http://schemas.microsoft.com/office/powerpoint/2010/main" val="2884449860"/>
      </p:ext>
    </p:extLst>
  </p:cSld>
  <p:clrMapOvr>
    <a:masterClrMapping/>
  </p:clrMapOvr>
  <p:extLst>
    <p:ext uri="{DCECCB84-F9BA-43D5-87BE-67443E8EF086}">
      <p15:sldGuideLst xmlns:p15="http://schemas.microsoft.com/office/powerpoint/2012/main">
        <p15:guide id="1" pos="1474">
          <p15:clr>
            <a:srgbClr val="FBAE40"/>
          </p15:clr>
        </p15:guide>
        <p15:guide id="2" pos="31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Page - Yellow - Client Logo">
    <p:bg>
      <p:bgPr>
        <a:solidFill>
          <a:schemeClr val="bg1"/>
        </a:solidFill>
        <a:effectLst/>
      </p:bgPr>
    </p:bg>
    <p:spTree>
      <p:nvGrpSpPr>
        <p:cNvPr id="1" name=""/>
        <p:cNvGrpSpPr/>
        <p:nvPr/>
      </p:nvGrpSpPr>
      <p:grpSpPr>
        <a:xfrm>
          <a:off x="0" y="0"/>
          <a:ext cx="0" cy="0"/>
          <a:chOff x="0" y="0"/>
          <a:chExt cx="0" cy="0"/>
        </a:xfrm>
      </p:grpSpPr>
      <p:pic>
        <p:nvPicPr>
          <p:cNvPr id="4" name="Picture 3" descr="A blue background with curved lines&#10;&#10;AI-generated content may be incorrect.">
            <a:extLst>
              <a:ext uri="{FF2B5EF4-FFF2-40B4-BE49-F238E27FC236}">
                <a16:creationId xmlns:a16="http://schemas.microsoft.com/office/drawing/2014/main" id="{B73DC436-C430-1491-E846-E1D25FC0680F}"/>
              </a:ext>
            </a:extLst>
          </p:cNvPr>
          <p:cNvPicPr>
            <a:picLocks noChangeAspect="1"/>
          </p:cNvPicPr>
          <p:nvPr userDrawn="1"/>
        </p:nvPicPr>
        <p:blipFill>
          <a:blip r:embed="rId2"/>
          <a:stretch>
            <a:fillRect/>
          </a:stretch>
        </p:blipFill>
        <p:spPr>
          <a:xfrm>
            <a:off x="1" y="0"/>
            <a:ext cx="12226183" cy="6858000"/>
          </a:xfrm>
          <a:prstGeom prst="rect">
            <a:avLst/>
          </a:prstGeom>
        </p:spPr>
      </p:pic>
      <p:sp>
        <p:nvSpPr>
          <p:cNvPr id="18" name="Text Placeholder 17"/>
          <p:cNvSpPr>
            <a:spLocks noGrp="1"/>
          </p:cNvSpPr>
          <p:nvPr>
            <p:ph type="body" sz="quarter" idx="11" hasCustomPrompt="1"/>
          </p:nvPr>
        </p:nvSpPr>
        <p:spPr>
          <a:xfrm>
            <a:off x="3630086" y="3705443"/>
            <a:ext cx="4931833" cy="270988"/>
          </a:xfrm>
          <a:prstGeom prst="rect">
            <a:avLst/>
          </a:prstGeom>
        </p:spPr>
        <p:txBody>
          <a:bodyPr lIns="0" tIns="0" rIns="0" bIns="0"/>
          <a:lstStyle>
            <a:lvl1pPr marL="0" indent="0" algn="ctr">
              <a:lnSpc>
                <a:spcPct val="100000"/>
              </a:lnSpc>
              <a:buNone/>
              <a:defRPr sz="1333" b="0" i="0" spc="267" baseline="0">
                <a:solidFill>
                  <a:schemeClr val="tx1"/>
                </a:solidFill>
                <a:latin typeface="Arial" charset="0"/>
                <a:ea typeface="Arial" charset="0"/>
                <a:cs typeface="Arial" charset="0"/>
              </a:defRPr>
            </a:lvl1pPr>
            <a:lvl2pPr marL="372515"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2pPr>
            <a:lvl3pPr marL="755612"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3pPr>
            <a:lvl4pPr marL="1130244"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4pPr>
            <a:lvl5pPr marL="1443495"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5pPr>
          </a:lstStyle>
          <a:p>
            <a:pPr lvl="0"/>
            <a:r>
              <a:rPr lang="en-US" dirty="0"/>
              <a:t>PRESENTATION DATE</a:t>
            </a:r>
          </a:p>
        </p:txBody>
      </p:sp>
      <p:cxnSp>
        <p:nvCxnSpPr>
          <p:cNvPr id="10" name="Straight Connector 9"/>
          <p:cNvCxnSpPr/>
          <p:nvPr userDrawn="1"/>
        </p:nvCxnSpPr>
        <p:spPr>
          <a:xfrm>
            <a:off x="-34183" y="8110409"/>
            <a:ext cx="12260365" cy="0"/>
          </a:xfrm>
          <a:prstGeom prst="line">
            <a:avLst/>
          </a:prstGeom>
          <a:ln w="6350" cap="flat" cmpd="sng" algn="ctr">
            <a:solidFill>
              <a:schemeClr val="accent5">
                <a:alpha val="1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 name="Title 2"/>
          <p:cNvSpPr>
            <a:spLocks noGrp="1"/>
          </p:cNvSpPr>
          <p:nvPr>
            <p:ph type="title" hasCustomPrompt="1"/>
          </p:nvPr>
        </p:nvSpPr>
        <p:spPr>
          <a:xfrm>
            <a:off x="765173" y="2215092"/>
            <a:ext cx="10611576" cy="732869"/>
          </a:xfrm>
          <a:prstGeom prst="rect">
            <a:avLst/>
          </a:prstGeom>
        </p:spPr>
        <p:txBody>
          <a:bodyPr lIns="0" tIns="0" rIns="0" bIns="0" anchor="ctr" anchorCtr="0"/>
          <a:lstStyle>
            <a:lvl1pPr algn="ctr">
              <a:defRPr sz="4800" b="1" i="0">
                <a:solidFill>
                  <a:schemeClr val="bg1"/>
                </a:solidFill>
                <a:latin typeface="Arial" charset="0"/>
                <a:ea typeface="Arial" charset="0"/>
                <a:cs typeface="Arial" charset="0"/>
              </a:defRPr>
            </a:lvl1pPr>
          </a:lstStyle>
          <a:p>
            <a:r>
              <a:rPr lang="en-US" dirty="0"/>
              <a:t>Presentation Title</a:t>
            </a:r>
            <a:endParaRPr lang="en-GB" dirty="0"/>
          </a:p>
        </p:txBody>
      </p:sp>
      <p:sp>
        <p:nvSpPr>
          <p:cNvPr id="6" name="Text Placeholder 5"/>
          <p:cNvSpPr>
            <a:spLocks noGrp="1"/>
          </p:cNvSpPr>
          <p:nvPr>
            <p:ph type="body" sz="quarter" idx="10" hasCustomPrompt="1"/>
          </p:nvPr>
        </p:nvSpPr>
        <p:spPr>
          <a:xfrm>
            <a:off x="765173" y="3093068"/>
            <a:ext cx="10611576" cy="467273"/>
          </a:xfrm>
          <a:prstGeom prst="rect">
            <a:avLst/>
          </a:prstGeom>
        </p:spPr>
        <p:txBody>
          <a:bodyPr lIns="0" tIns="0" rIns="0" bIns="0"/>
          <a:lstStyle>
            <a:lvl1pPr marL="0" indent="0" algn="ctr">
              <a:buNone/>
              <a:defRPr sz="2133" b="1" i="0">
                <a:solidFill>
                  <a:schemeClr val="bg1"/>
                </a:solidFill>
                <a:latin typeface="Arial" charset="0"/>
                <a:ea typeface="Arial" charset="0"/>
                <a:cs typeface="Arial" charset="0"/>
              </a:defRPr>
            </a:lvl1pPr>
            <a:lvl2pPr marL="372515"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2pPr>
            <a:lvl3pPr marL="755612"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3pPr>
            <a:lvl4pPr marL="1130244"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4pPr>
            <a:lvl5pPr marL="1443495"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5pPr>
          </a:lstStyle>
          <a:p>
            <a:pPr lvl="0"/>
            <a:r>
              <a:rPr lang="en-US" dirty="0"/>
              <a:t>Presentation Subtitle</a:t>
            </a:r>
          </a:p>
        </p:txBody>
      </p:sp>
      <p:sp>
        <p:nvSpPr>
          <p:cNvPr id="7" name="Content Placeholder 6">
            <a:extLst>
              <a:ext uri="{FF2B5EF4-FFF2-40B4-BE49-F238E27FC236}">
                <a16:creationId xmlns:a16="http://schemas.microsoft.com/office/drawing/2014/main" id="{5C64F9DD-DE30-C34A-A485-A07A839C3CA1}"/>
              </a:ext>
            </a:extLst>
          </p:cNvPr>
          <p:cNvSpPr>
            <a:spLocks noGrp="1"/>
          </p:cNvSpPr>
          <p:nvPr>
            <p:ph sz="quarter" idx="13" hasCustomPrompt="1"/>
          </p:nvPr>
        </p:nvSpPr>
        <p:spPr>
          <a:xfrm>
            <a:off x="7063317" y="5454985"/>
            <a:ext cx="3510899" cy="683351"/>
          </a:xfrm>
          <a:prstGeom prst="rect">
            <a:avLst/>
          </a:prstGeom>
        </p:spPr>
        <p:txBody>
          <a:bodyPr anchor="ctr"/>
          <a:lstStyle>
            <a:lvl1pPr marL="0" indent="0" algn="ctr">
              <a:buNone/>
              <a:defRPr sz="1867">
                <a:solidFill>
                  <a:schemeClr val="bg1"/>
                </a:solidFill>
                <a:latin typeface="Arial" panose="020B0604020202020204" pitchFamily="34" charset="0"/>
                <a:cs typeface="Arial" panose="020B0604020202020204" pitchFamily="34" charset="0"/>
              </a:defRPr>
            </a:lvl1pPr>
          </a:lstStyle>
          <a:p>
            <a:pPr lvl="0"/>
            <a:r>
              <a:rPr lang="en-US" dirty="0"/>
              <a:t>Insert client logo</a:t>
            </a:r>
          </a:p>
        </p:txBody>
      </p:sp>
      <p:pic>
        <p:nvPicPr>
          <p:cNvPr id="5" name="Picture 4" descr="A black background with white text&#10;&#10;AI-generated content may be incorrect.">
            <a:extLst>
              <a:ext uri="{FF2B5EF4-FFF2-40B4-BE49-F238E27FC236}">
                <a16:creationId xmlns:a16="http://schemas.microsoft.com/office/drawing/2014/main" id="{932B273F-83BA-A2C5-1897-4D85557BA0D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82256" y="3560340"/>
            <a:ext cx="3759200" cy="3759200"/>
          </a:xfrm>
          <a:prstGeom prst="rect">
            <a:avLst/>
          </a:prstGeom>
        </p:spPr>
      </p:pic>
    </p:spTree>
    <p:extLst>
      <p:ext uri="{BB962C8B-B14F-4D97-AF65-F5344CB8AC3E}">
        <p14:creationId xmlns:p14="http://schemas.microsoft.com/office/powerpoint/2010/main" val="15191871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0E5738-C9DE-11FE-D568-9B949EB652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51C46CE-10BE-50B0-F36F-A51308751E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6BF01D6-F057-8678-5AB5-1D2FBD8860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6FF969D-569B-42C3-B352-1CF209C6331A}" type="datetimeFigureOut">
              <a:rPr lang="en-US" smtClean="0"/>
              <a:t>11/5/2025</a:t>
            </a:fld>
            <a:endParaRPr lang="en-US"/>
          </a:p>
        </p:txBody>
      </p:sp>
      <p:sp>
        <p:nvSpPr>
          <p:cNvPr id="5" name="Footer Placeholder 4">
            <a:extLst>
              <a:ext uri="{FF2B5EF4-FFF2-40B4-BE49-F238E27FC236}">
                <a16:creationId xmlns:a16="http://schemas.microsoft.com/office/drawing/2014/main" id="{EA450A7F-9739-5162-65BB-DFB49002CB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B9B1368-E900-4ED4-C526-5692C178CD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412657-373E-4B0C-8187-B6EEB1CAF031}" type="slidenum">
              <a:rPr lang="en-US" smtClean="0"/>
              <a:t>‹#›</a:t>
            </a:fld>
            <a:endParaRPr lang="en-US"/>
          </a:p>
        </p:txBody>
      </p:sp>
    </p:spTree>
    <p:extLst>
      <p:ext uri="{BB962C8B-B14F-4D97-AF65-F5344CB8AC3E}">
        <p14:creationId xmlns:p14="http://schemas.microsoft.com/office/powerpoint/2010/main" val="3705000719"/>
      </p:ext>
    </p:extLst>
  </p:cSld>
  <p:clrMap bg1="lt1" tx1="dk1" bg2="lt2" tx2="dk2" accent1="accent1" accent2="accent2" accent3="accent3" accent4="accent4" accent5="accent5" accent6="accent6" hlink="hlink" folHlink="folHlink"/>
  <p:sldLayoutIdLst>
    <p:sldLayoutId id="2147483661" r:id="rId1"/>
    <p:sldLayoutId id="214748366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E059C6-85BA-4084-1DF2-45B8E4F56CF2}"/>
              </a:ext>
            </a:extLst>
          </p:cNvPr>
          <p:cNvSpPr>
            <a:spLocks noGrp="1"/>
          </p:cNvSpPr>
          <p:nvPr>
            <p:ph type="title"/>
          </p:nvPr>
        </p:nvSpPr>
        <p:spPr>
          <a:xfrm>
            <a:off x="658478" y="1912409"/>
            <a:ext cx="10532918" cy="1292678"/>
          </a:xfrm>
        </p:spPr>
        <p:txBody>
          <a:bodyPr>
            <a:normAutofit fontScale="90000"/>
          </a:bodyPr>
          <a:lstStyle/>
          <a:p>
            <a:r>
              <a:rPr lang="en-US" dirty="0">
                <a:latin typeface="Times New Roman" panose="02020603050405020304" pitchFamily="18" charset="0"/>
                <a:cs typeface="Times New Roman" panose="02020603050405020304" pitchFamily="18" charset="0"/>
              </a:rPr>
              <a:t>Architectural Components of a Data Warehouse</a:t>
            </a:r>
          </a:p>
        </p:txBody>
      </p:sp>
    </p:spTree>
    <p:extLst>
      <p:ext uri="{BB962C8B-B14F-4D97-AF65-F5344CB8AC3E}">
        <p14:creationId xmlns:p14="http://schemas.microsoft.com/office/powerpoint/2010/main" val="2545166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E8B9A-5321-64EE-E38E-94B4DCFAFB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9DC04-8740-8404-A7C0-372D3B8AA28F}"/>
              </a:ext>
            </a:extLst>
          </p:cNvPr>
          <p:cNvSpPr>
            <a:spLocks noGrp="1"/>
          </p:cNvSpPr>
          <p:nvPr>
            <p:ph type="title"/>
          </p:nvPr>
        </p:nvSpPr>
        <p:spPr>
          <a:xfrm>
            <a:off x="597460" y="601195"/>
            <a:ext cx="10807652" cy="440488"/>
          </a:xfrm>
        </p:spPr>
        <p:txBody>
          <a:bodyPr>
            <a:normAutofit/>
          </a:bodyPr>
          <a:lstStyle/>
          <a:p>
            <a:r>
              <a:rPr lang="en-US" dirty="0">
                <a:latin typeface="Times New Roman" panose="02020603050405020304" pitchFamily="18" charset="0"/>
                <a:cs typeface="Times New Roman" panose="02020603050405020304" pitchFamily="18" charset="0"/>
              </a:rPr>
              <a:t>The Layered Architecture</a:t>
            </a:r>
          </a:p>
        </p:txBody>
      </p:sp>
      <p:sp>
        <p:nvSpPr>
          <p:cNvPr id="4" name="TextBox 3">
            <a:extLst>
              <a:ext uri="{FF2B5EF4-FFF2-40B4-BE49-F238E27FC236}">
                <a16:creationId xmlns:a16="http://schemas.microsoft.com/office/drawing/2014/main" id="{CC71EE33-2DFB-CC7A-8B11-72EE0CA77CAB}"/>
              </a:ext>
            </a:extLst>
          </p:cNvPr>
          <p:cNvSpPr txBox="1"/>
          <p:nvPr/>
        </p:nvSpPr>
        <p:spPr>
          <a:xfrm>
            <a:off x="389106" y="1187951"/>
            <a:ext cx="6979256" cy="4849404"/>
          </a:xfrm>
          <a:prstGeom prst="rect">
            <a:avLst/>
          </a:prstGeom>
          <a:noFill/>
        </p:spPr>
        <p:txBody>
          <a:bodyPr wrap="square">
            <a:spAutoFit/>
          </a:bodyPr>
          <a:lstStyle/>
          <a:p>
            <a:pPr>
              <a:lnSpc>
                <a:spcPct val="150000"/>
              </a:lnSpc>
              <a:buNone/>
            </a:pPr>
            <a:r>
              <a:rPr lang="en-US" sz="1600" dirty="0">
                <a:latin typeface="Times New Roman" panose="02020603050405020304" pitchFamily="18" charset="0"/>
                <a:cs typeface="Times New Roman" panose="02020603050405020304" pitchFamily="18" charset="0"/>
              </a:rPr>
              <a:t>A layered architecture breaks down a complex system into manageable, interconnected parts.</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Complexity Management:</a:t>
            </a:r>
            <a:r>
              <a:rPr lang="en-US" sz="1600" dirty="0">
                <a:latin typeface="Times New Roman" panose="02020603050405020304" pitchFamily="18" charset="0"/>
                <a:cs typeface="Times New Roman" panose="02020603050405020304" pitchFamily="18" charset="0"/>
              </a:rPr>
              <a:t> Simplifies design, development, and maintenance.</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Modularity &amp; Reusability:</a:t>
            </a:r>
            <a:r>
              <a:rPr lang="en-US" sz="1600" dirty="0">
                <a:latin typeface="Times New Roman" panose="02020603050405020304" pitchFamily="18" charset="0"/>
                <a:cs typeface="Times New Roman" panose="02020603050405020304" pitchFamily="18" charset="0"/>
              </a:rPr>
              <a:t> Each layer has specific responsibilities, allowing components to be reused or updated independently.</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Scalability:</a:t>
            </a:r>
            <a:r>
              <a:rPr lang="en-US" sz="1600" dirty="0">
                <a:latin typeface="Times New Roman" panose="02020603050405020304" pitchFamily="18" charset="0"/>
                <a:cs typeface="Times New Roman" panose="02020603050405020304" pitchFamily="18" charset="0"/>
              </a:rPr>
              <a:t> Allows individual layers to be scaled as data volume or user load grows (e.g., adding more processing power to the ETL layer).</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Flexibility:</a:t>
            </a:r>
            <a:r>
              <a:rPr lang="en-US" sz="1600" dirty="0">
                <a:latin typeface="Times New Roman" panose="02020603050405020304" pitchFamily="18" charset="0"/>
                <a:cs typeface="Times New Roman" panose="02020603050405020304" pitchFamily="18" charset="0"/>
              </a:rPr>
              <a:t> Easier to introduce new technologies or adapt to business changes without a full system overhaul.</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Fault Isolation:</a:t>
            </a:r>
            <a:r>
              <a:rPr lang="en-US" sz="1600" dirty="0">
                <a:latin typeface="Times New Roman" panose="02020603050405020304" pitchFamily="18" charset="0"/>
                <a:cs typeface="Times New Roman" panose="02020603050405020304" pitchFamily="18" charset="0"/>
              </a:rPr>
              <a:t> Problems in one layer (e.g., an ETL job failure) are less likely to bring down the entire data warehouse.</a:t>
            </a:r>
          </a:p>
          <a:p>
            <a:pPr>
              <a:lnSpc>
                <a:spcPct val="150000"/>
              </a:lnSpc>
              <a:buNone/>
            </a:pPr>
            <a:r>
              <a:rPr lang="en-US" sz="1600" dirty="0">
                <a:latin typeface="Times New Roman" panose="02020603050405020304" pitchFamily="18" charset="0"/>
                <a:cs typeface="Times New Roman" panose="02020603050405020304" pitchFamily="18" charset="0"/>
              </a:rPr>
              <a:t>This diagram shows the typical flow of data from raw sources to end-user insights, with supporting layers for management and context.</a:t>
            </a:r>
          </a:p>
        </p:txBody>
      </p:sp>
      <p:pic>
        <p:nvPicPr>
          <p:cNvPr id="7" name="Picture 6">
            <a:extLst>
              <a:ext uri="{FF2B5EF4-FFF2-40B4-BE49-F238E27FC236}">
                <a16:creationId xmlns:a16="http://schemas.microsoft.com/office/drawing/2014/main" id="{127D08F3-8D43-1FFF-CFC6-ADE3D70CF831}"/>
              </a:ext>
            </a:extLst>
          </p:cNvPr>
          <p:cNvPicPr>
            <a:picLocks noChangeAspect="1"/>
          </p:cNvPicPr>
          <p:nvPr/>
        </p:nvPicPr>
        <p:blipFill>
          <a:blip r:embed="rId3"/>
          <a:stretch>
            <a:fillRect/>
          </a:stretch>
        </p:blipFill>
        <p:spPr>
          <a:xfrm>
            <a:off x="7503256" y="821439"/>
            <a:ext cx="4505954" cy="5582429"/>
          </a:xfrm>
          <a:prstGeom prst="rect">
            <a:avLst/>
          </a:prstGeom>
        </p:spPr>
      </p:pic>
    </p:spTree>
    <p:extLst>
      <p:ext uri="{BB962C8B-B14F-4D97-AF65-F5344CB8AC3E}">
        <p14:creationId xmlns:p14="http://schemas.microsoft.com/office/powerpoint/2010/main" val="2933251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6A956-F02C-F1FA-C984-C4AF6D8D3BE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Different Layers in Architecture</a:t>
            </a:r>
            <a:endParaRPr lang="en-US" dirty="0"/>
          </a:p>
        </p:txBody>
      </p:sp>
      <p:sp>
        <p:nvSpPr>
          <p:cNvPr id="5" name="TextBox 4">
            <a:extLst>
              <a:ext uri="{FF2B5EF4-FFF2-40B4-BE49-F238E27FC236}">
                <a16:creationId xmlns:a16="http://schemas.microsoft.com/office/drawing/2014/main" id="{9B392E54-3D0E-D388-2924-6DED5FBFA223}"/>
              </a:ext>
            </a:extLst>
          </p:cNvPr>
          <p:cNvSpPr txBox="1"/>
          <p:nvPr/>
        </p:nvSpPr>
        <p:spPr>
          <a:xfrm>
            <a:off x="489098" y="1028343"/>
            <a:ext cx="11702902" cy="4524315"/>
          </a:xfrm>
          <a:prstGeom prst="rect">
            <a:avLst/>
          </a:prstGeom>
          <a:noFill/>
        </p:spPr>
        <p:txBody>
          <a:bodyPr wrap="square" lIns="91440" tIns="45720" rIns="91440" bIns="45720" anchor="t">
            <a:spAutoFit/>
          </a:bodyPr>
          <a:lstStyle/>
          <a:p>
            <a:pPr marL="342900" indent="-342900">
              <a:buAutoNum type="arabicPeriod"/>
            </a:pPr>
            <a:r>
              <a:rPr lang="en-US" b="1" dirty="0">
                <a:solidFill>
                  <a:schemeClr val="tx2">
                    <a:lumMod val="75000"/>
                    <a:lumOff val="25000"/>
                  </a:schemeClr>
                </a:solidFill>
                <a:latin typeface="Times New Roman" panose="02020603050405020304" pitchFamily="18" charset="0"/>
                <a:cs typeface="Times New Roman" panose="02020603050405020304" pitchFamily="18" charset="0"/>
              </a:rPr>
              <a:t>Data Source Layer: </a:t>
            </a:r>
            <a:r>
              <a:rPr lang="en-US" dirty="0">
                <a:latin typeface="Times New Roman" panose="02020603050405020304" pitchFamily="18" charset="0"/>
                <a:cs typeface="Times New Roman" panose="02020603050405020304" pitchFamily="18" charset="0"/>
              </a:rPr>
              <a:t>This layer comprises the various operational systems and external sources that provide the raw data for the warehouse.</a:t>
            </a:r>
          </a:p>
          <a:p>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Key Functions: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Generates transactional data (</a:t>
            </a: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sales, inventory, customer interactions).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external data feeds (</a:t>
            </a: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market data, social media trends).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Holds historical data in various formats (e.g., files, spreadsheets).</a:t>
            </a: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Technologies Used: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Oracle, SQL Server, SAP, Salesforce, JSON, XML, REST APIs, Excel.</a:t>
            </a:r>
          </a:p>
          <a:p>
            <a:endParaRPr lang="en-US" dirty="0">
              <a:latin typeface="Times New Roman" panose="02020603050405020304" pitchFamily="18" charset="0"/>
              <a:cs typeface="Times New Roman" panose="02020603050405020304" pitchFamily="18" charset="0"/>
            </a:endParaRPr>
          </a:p>
          <a:p>
            <a:r>
              <a:rPr lang="en-US" b="1" dirty="0">
                <a:latin typeface="Times New Roman"/>
                <a:cs typeface="Times New Roman"/>
              </a:rPr>
              <a:t>Real-World Example: </a:t>
            </a:r>
            <a:r>
              <a:rPr lang="en-US" dirty="0">
                <a:latin typeface="Times New Roman"/>
                <a:cs typeface="Times New Roman"/>
              </a:rPr>
              <a:t>A retail chain uses SAP for inventory, Salesforce for customer management, and social media sentiment data from Twitter API all of which form the</a:t>
            </a:r>
            <a:r>
              <a:rPr lang="en-US" b="1" dirty="0">
                <a:latin typeface="Times New Roman"/>
                <a:cs typeface="Times New Roman"/>
              </a:rPr>
              <a:t> Data Source Layer.</a:t>
            </a:r>
          </a:p>
          <a:p>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Interaction:</a:t>
            </a:r>
            <a:r>
              <a:rPr lang="en-US" dirty="0">
                <a:latin typeface="Times New Roman" panose="02020603050405020304" pitchFamily="18" charset="0"/>
                <a:cs typeface="Times New Roman" panose="02020603050405020304" pitchFamily="18" charset="0"/>
              </a:rPr>
              <a:t> It's the starting point. It provides the raw material to the </a:t>
            </a:r>
            <a:r>
              <a:rPr lang="en-US" b="1" dirty="0">
                <a:latin typeface="Times New Roman" panose="02020603050405020304" pitchFamily="18" charset="0"/>
                <a:cs typeface="Times New Roman" panose="02020603050405020304" pitchFamily="18" charset="0"/>
              </a:rPr>
              <a:t>Data Extraction Layer</a:t>
            </a:r>
            <a:r>
              <a:rPr lang="en-US" dirty="0">
                <a:latin typeface="Times New Roman" panose="02020603050405020304" pitchFamily="18" charset="0"/>
                <a:cs typeface="Times New Roman" panose="02020603050405020304" pitchFamily="18" charset="0"/>
              </a:rPr>
              <a:t>.</a:t>
            </a:r>
          </a:p>
          <a:p>
            <a:pPr>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1484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F4BC5-162C-F50D-56FD-5601E6420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DBDFE-249D-D02C-BFBD-713912BDF88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Different Layers in Architecture</a:t>
            </a:r>
            <a:endParaRPr lang="en-US" dirty="0"/>
          </a:p>
        </p:txBody>
      </p:sp>
      <p:sp>
        <p:nvSpPr>
          <p:cNvPr id="5" name="TextBox 4">
            <a:extLst>
              <a:ext uri="{FF2B5EF4-FFF2-40B4-BE49-F238E27FC236}">
                <a16:creationId xmlns:a16="http://schemas.microsoft.com/office/drawing/2014/main" id="{FB29F728-CAF5-300A-B34A-4717389CF40A}"/>
              </a:ext>
            </a:extLst>
          </p:cNvPr>
          <p:cNvSpPr txBox="1"/>
          <p:nvPr/>
        </p:nvSpPr>
        <p:spPr>
          <a:xfrm>
            <a:off x="410440" y="1012185"/>
            <a:ext cx="11702902" cy="4890057"/>
          </a:xfrm>
          <a:prstGeom prst="rect">
            <a:avLst/>
          </a:prstGeom>
          <a:noFill/>
        </p:spPr>
        <p:txBody>
          <a:bodyPr wrap="square" lIns="91440" tIns="45720" rIns="91440" bIns="45720" anchor="t">
            <a:spAutoFit/>
          </a:bodyPr>
          <a:lstStyle/>
          <a:p>
            <a:pPr>
              <a:lnSpc>
                <a:spcPct val="150000"/>
              </a:lnSpc>
              <a:buNone/>
            </a:pPr>
            <a:r>
              <a:rPr lang="en-US" b="1" dirty="0">
                <a:solidFill>
                  <a:schemeClr val="tx2">
                    <a:lumMod val="75000"/>
                    <a:lumOff val="25000"/>
                  </a:schemeClr>
                </a:solidFill>
                <a:latin typeface="Times New Roman" panose="02020603050405020304" pitchFamily="18" charset="0"/>
                <a:cs typeface="Times New Roman" panose="02020603050405020304" pitchFamily="18" charset="0"/>
              </a:rPr>
              <a:t>2. Data Extraction Layer: </a:t>
            </a:r>
            <a:r>
              <a:rPr lang="en-US" dirty="0">
                <a:latin typeface="Times New Roman" panose="02020603050405020304" pitchFamily="18" charset="0"/>
                <a:cs typeface="Times New Roman" panose="02020603050405020304" pitchFamily="18" charset="0"/>
              </a:rPr>
              <a:t>Responsible for pulling (extracting) data from the diverse data sources.</a:t>
            </a:r>
          </a:p>
          <a:p>
            <a:pPr>
              <a:lnSpc>
                <a:spcPct val="150000"/>
              </a:lnSpc>
              <a:buNone/>
            </a:pPr>
            <a:r>
              <a:rPr lang="en-US" b="1" dirty="0">
                <a:latin typeface="Times New Roman" panose="02020603050405020304" pitchFamily="18" charset="0"/>
                <a:cs typeface="Times New Roman" panose="02020603050405020304" pitchFamily="18" charset="0"/>
              </a:rPr>
              <a:t>Key Functions: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Capture:</a:t>
            </a:r>
            <a:r>
              <a:rPr lang="en-US" dirty="0">
                <a:latin typeface="Times New Roman" panose="02020603050405020304" pitchFamily="18" charset="0"/>
                <a:cs typeface="Times New Roman" panose="02020603050405020304" pitchFamily="18" charset="0"/>
              </a:rPr>
              <a:t> Retrieves data using full or incremental (Change Data Capture - CDC) methods.</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Extracting only updated customer records daily from Oracle ERP.</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Connection Management:</a:t>
            </a:r>
            <a:r>
              <a:rPr lang="en-US" dirty="0">
                <a:latin typeface="Times New Roman" panose="02020603050405020304" pitchFamily="18" charset="0"/>
                <a:cs typeface="Times New Roman" panose="02020603050405020304" pitchFamily="18" charset="0"/>
              </a:rPr>
              <a:t> Handles secure connections and authentication to source systems.</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Using OAuth for Salesforce API or SSH for secure file transfers.</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Error Handling:</a:t>
            </a:r>
            <a:r>
              <a:rPr lang="en-US" dirty="0">
                <a:latin typeface="Times New Roman" panose="02020603050405020304" pitchFamily="18" charset="0"/>
                <a:cs typeface="Times New Roman" panose="02020603050405020304" pitchFamily="18" charset="0"/>
              </a:rPr>
              <a:t> Logs extraction failures and alerts administrators.</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If API extraction fails, a failure log and email notification are generated.</a:t>
            </a: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Technologies Used: </a:t>
            </a:r>
            <a:r>
              <a:rPr lang="en-US" dirty="0">
                <a:latin typeface="Times New Roman" panose="02020603050405020304" pitchFamily="18" charset="0"/>
                <a:cs typeface="Times New Roman" panose="02020603050405020304" pitchFamily="18" charset="0"/>
              </a:rPr>
              <a:t>Talend, IBM DataStage, Microsoft SSIS, Python, Java, Shell Scripts, </a:t>
            </a:r>
            <a:r>
              <a:rPr lang="en-US" dirty="0" err="1">
                <a:latin typeface="Times New Roman" panose="02020603050405020304" pitchFamily="18" charset="0"/>
                <a:cs typeface="Times New Roman" panose="02020603050405020304" pitchFamily="18" charset="0"/>
              </a:rPr>
              <a:t>Debezium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Attunity</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Real-World Example: </a:t>
            </a:r>
            <a:r>
              <a:rPr lang="en-US" dirty="0">
                <a:latin typeface="Times New Roman" panose="02020603050405020304" pitchFamily="18" charset="0"/>
                <a:cs typeface="Times New Roman" panose="02020603050405020304" pitchFamily="18" charset="0"/>
              </a:rPr>
              <a:t>A banking organization extracts daily customer and transaction data from multiple systems like Oracle Core Banking, Salesforce CRM, and external credit bureau APIs using Talend and </a:t>
            </a:r>
            <a:r>
              <a:rPr lang="en-US" dirty="0" err="1">
                <a:latin typeface="Times New Roman" panose="02020603050405020304" pitchFamily="18" charset="0"/>
                <a:cs typeface="Times New Roman" panose="02020603050405020304" pitchFamily="18" charset="0"/>
              </a:rPr>
              <a:t>Debezium</a:t>
            </a:r>
            <a:r>
              <a:rPr lang="en-US" dirty="0">
                <a:latin typeface="Times New Roman" panose="02020603050405020304" pitchFamily="18" charset="0"/>
                <a:cs typeface="Times New Roman" panose="02020603050405020304" pitchFamily="18" charset="0"/>
              </a:rPr>
              <a:t> for incremental CDC extraction.</a:t>
            </a:r>
          </a:p>
          <a:p>
            <a:endParaRPr lang="en-US" dirty="0">
              <a:latin typeface="Times New Roman" panose="02020603050405020304" pitchFamily="18" charset="0"/>
              <a:cs typeface="Times New Roman" panose="02020603050405020304" pitchFamily="18" charset="0"/>
            </a:endParaRPr>
          </a:p>
          <a:p>
            <a:pPr>
              <a:lnSpc>
                <a:spcPct val="150000"/>
              </a:lnSpc>
              <a:buNone/>
            </a:pPr>
            <a:r>
              <a:rPr lang="en-US" b="1" dirty="0">
                <a:latin typeface="Times New Roman"/>
                <a:cs typeface="Times New Roman"/>
              </a:rPr>
              <a:t>Interaction:</a:t>
            </a:r>
            <a:r>
              <a:rPr lang="en-US" dirty="0">
                <a:latin typeface="Times New Roman"/>
                <a:cs typeface="Times New Roman"/>
              </a:rPr>
              <a:t> Pulls data from the Data Source Layer and delivers it to the Staging Area.</a:t>
            </a:r>
          </a:p>
        </p:txBody>
      </p:sp>
    </p:spTree>
    <p:extLst>
      <p:ext uri="{BB962C8B-B14F-4D97-AF65-F5344CB8AC3E}">
        <p14:creationId xmlns:p14="http://schemas.microsoft.com/office/powerpoint/2010/main" val="213420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190F0-C360-3C23-CFCB-E02FFDD2088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Different Layers in Architecture</a:t>
            </a:r>
            <a:endParaRPr lang="en-US" dirty="0"/>
          </a:p>
        </p:txBody>
      </p:sp>
      <p:sp>
        <p:nvSpPr>
          <p:cNvPr id="5" name="TextBox 4">
            <a:extLst>
              <a:ext uri="{FF2B5EF4-FFF2-40B4-BE49-F238E27FC236}">
                <a16:creationId xmlns:a16="http://schemas.microsoft.com/office/drawing/2014/main" id="{62661404-49D9-D097-B824-4975661E1478}"/>
              </a:ext>
            </a:extLst>
          </p:cNvPr>
          <p:cNvSpPr txBox="1"/>
          <p:nvPr/>
        </p:nvSpPr>
        <p:spPr>
          <a:xfrm>
            <a:off x="452285" y="876364"/>
            <a:ext cx="11739715" cy="5355312"/>
          </a:xfrm>
          <a:prstGeom prst="rect">
            <a:avLst/>
          </a:prstGeom>
          <a:noFill/>
        </p:spPr>
        <p:txBody>
          <a:bodyPr wrap="square" lIns="91440" tIns="45720" rIns="91440" bIns="45720" anchor="t">
            <a:spAutoFit/>
          </a:bodyPr>
          <a:lstStyle/>
          <a:p>
            <a:pPr>
              <a:lnSpc>
                <a:spcPct val="150000"/>
              </a:lnSpc>
              <a:buNone/>
            </a:pPr>
            <a:r>
              <a:rPr lang="en-US" b="1" dirty="0">
                <a:solidFill>
                  <a:schemeClr val="tx2">
                    <a:lumMod val="75000"/>
                    <a:lumOff val="25000"/>
                  </a:schemeClr>
                </a:solidFill>
                <a:latin typeface="Times New Roman" panose="02020603050405020304" pitchFamily="18" charset="0"/>
                <a:cs typeface="Times New Roman" panose="02020603050405020304" pitchFamily="18" charset="0"/>
              </a:rPr>
              <a:t>3. Staging Layer: </a:t>
            </a:r>
            <a:r>
              <a:rPr lang="en-US" dirty="0">
                <a:latin typeface="Times New Roman" panose="02020603050405020304" pitchFamily="18" charset="0"/>
                <a:cs typeface="Times New Roman" panose="02020603050405020304" pitchFamily="18" charset="0"/>
              </a:rPr>
              <a:t>A temporary storage area that acts as a buffer between the source systems and the data warehouse.</a:t>
            </a:r>
          </a:p>
          <a:p>
            <a:pPr>
              <a:lnSpc>
                <a:spcPct val="150000"/>
              </a:lnSpc>
              <a:buNone/>
            </a:pPr>
            <a:r>
              <a:rPr lang="en-US" b="1" dirty="0">
                <a:latin typeface="Times New Roman" panose="02020603050405020304" pitchFamily="18" charset="0"/>
                <a:cs typeface="Times New Roman" panose="02020603050405020304" pitchFamily="18" charset="0"/>
              </a:rPr>
              <a:t>Key Functions: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Temporary Storage:</a:t>
            </a:r>
            <a:r>
              <a:rPr lang="en-US" dirty="0">
                <a:latin typeface="Times New Roman" panose="02020603050405020304" pitchFamily="18" charset="0"/>
                <a:cs typeface="Times New Roman" panose="02020603050405020304" pitchFamily="18" charset="0"/>
              </a:rPr>
              <a:t> Holds raw extracted data before transformation.</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Storing daily sales and customer extracts from different systems in S3 buckets.</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Consolidation:</a:t>
            </a:r>
            <a:r>
              <a:rPr lang="en-US" dirty="0">
                <a:latin typeface="Times New Roman" panose="02020603050405020304" pitchFamily="18" charset="0"/>
                <a:cs typeface="Times New Roman" panose="02020603050405020304" pitchFamily="18" charset="0"/>
              </a:rPr>
              <a:t> Combines data from multiple sources into unified files or tables.</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Merging customer data coming from SAP, Salesforce, and flat files.</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Error Isolation:</a:t>
            </a:r>
            <a:r>
              <a:rPr lang="en-US" dirty="0">
                <a:latin typeface="Times New Roman" panose="02020603050405020304" pitchFamily="18" charset="0"/>
                <a:cs typeface="Times New Roman" panose="02020603050405020304" pitchFamily="18" charset="0"/>
              </a:rPr>
              <a:t> Provides a safe zone to validate and correct data issues.</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Invalid date formats or missing fields are flagged and fixed here.</a:t>
            </a:r>
          </a:p>
          <a:p>
            <a:pPr marL="742950" lvl="1" indent="-285750">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Restartability</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Allows ETL processes to restart from the staging layer instead of re-extracting.</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If the ETL job fails, reloading can resume from staging tables.</a:t>
            </a: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Technologies Used: </a:t>
            </a:r>
            <a:r>
              <a:rPr lang="en-US" dirty="0">
                <a:latin typeface="Times New Roman" panose="02020603050405020304" pitchFamily="18" charset="0"/>
                <a:cs typeface="Times New Roman" panose="02020603050405020304" pitchFamily="18" charset="0"/>
              </a:rPr>
              <a:t>Amazon S3, Azure Blob Storage, Google Cloud Storage, HDFS (Hadoop Distributed File System), Snowflake Staging Tables</a:t>
            </a:r>
          </a:p>
          <a:p>
            <a:endParaRPr lang="en-US" dirty="0">
              <a:latin typeface="Times New Roman" panose="02020603050405020304" pitchFamily="18" charset="0"/>
              <a:cs typeface="Times New Roman" panose="02020603050405020304" pitchFamily="18" charset="0"/>
            </a:endParaRPr>
          </a:p>
          <a:p>
            <a:r>
              <a:rPr lang="en-US" b="1" dirty="0">
                <a:latin typeface="Times New Roman"/>
                <a:cs typeface="Times New Roman"/>
              </a:rPr>
              <a:t>Real-World Example: </a:t>
            </a:r>
            <a:r>
              <a:rPr lang="en-US" dirty="0">
                <a:latin typeface="Times New Roman"/>
                <a:cs typeface="Times New Roman"/>
              </a:rPr>
              <a:t>An e-commerce company extracts order data from MySQL, product data from SAP, and marketing data from Meta Ads API, then stores all raw files in AWS S3 staging area. From there, the ETL process picks them up for transformation and loading into the data warehouse.</a:t>
            </a:r>
          </a:p>
          <a:p>
            <a:r>
              <a:rPr lang="en-US" b="1" dirty="0">
                <a:latin typeface="Times New Roman" panose="02020603050405020304" pitchFamily="18" charset="0"/>
                <a:cs typeface="Times New Roman" panose="02020603050405020304" pitchFamily="18" charset="0"/>
              </a:rPr>
              <a:t>Interaction: </a:t>
            </a:r>
            <a:r>
              <a:rPr lang="en-US" dirty="0">
                <a:latin typeface="Times New Roman" panose="02020603050405020304" pitchFamily="18" charset="0"/>
                <a:cs typeface="Times New Roman" panose="02020603050405020304" pitchFamily="18" charset="0"/>
              </a:rPr>
              <a:t>Receives data from the Data Extraction Layer and provides it to the ETL/Transformation Layer for processing.</a:t>
            </a:r>
          </a:p>
        </p:txBody>
      </p:sp>
    </p:spTree>
    <p:extLst>
      <p:ext uri="{BB962C8B-B14F-4D97-AF65-F5344CB8AC3E}">
        <p14:creationId xmlns:p14="http://schemas.microsoft.com/office/powerpoint/2010/main" val="3174460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848E9-2D63-54C0-7E04-C170AD26A0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048221-834A-4A23-3A7E-73C339CF26E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Different Layers in Architecture</a:t>
            </a:r>
            <a:endParaRPr lang="en-US" dirty="0"/>
          </a:p>
        </p:txBody>
      </p:sp>
      <p:sp>
        <p:nvSpPr>
          <p:cNvPr id="5" name="TextBox 4">
            <a:extLst>
              <a:ext uri="{FF2B5EF4-FFF2-40B4-BE49-F238E27FC236}">
                <a16:creationId xmlns:a16="http://schemas.microsoft.com/office/drawing/2014/main" id="{34D373AA-684E-F568-B792-8680A7716AD1}"/>
              </a:ext>
            </a:extLst>
          </p:cNvPr>
          <p:cNvSpPr txBox="1"/>
          <p:nvPr/>
        </p:nvSpPr>
        <p:spPr>
          <a:xfrm>
            <a:off x="474921" y="791941"/>
            <a:ext cx="11717079" cy="5632311"/>
          </a:xfrm>
          <a:prstGeom prst="rect">
            <a:avLst/>
          </a:prstGeom>
          <a:noFill/>
        </p:spPr>
        <p:txBody>
          <a:bodyPr wrap="square">
            <a:spAutoFit/>
          </a:bodyPr>
          <a:lstStyle/>
          <a:p>
            <a:pPr>
              <a:lnSpc>
                <a:spcPct val="150000"/>
              </a:lnSpc>
              <a:buNone/>
            </a:pPr>
            <a:r>
              <a:rPr lang="en-US" b="1" dirty="0">
                <a:solidFill>
                  <a:schemeClr val="tx2">
                    <a:lumMod val="75000"/>
                    <a:lumOff val="25000"/>
                  </a:schemeClr>
                </a:solidFill>
                <a:latin typeface="Times New Roman" panose="02020603050405020304" pitchFamily="18" charset="0"/>
                <a:cs typeface="Times New Roman" panose="02020603050405020304" pitchFamily="18" charset="0"/>
              </a:rPr>
              <a:t>4. ETL Layer :</a:t>
            </a:r>
            <a:r>
              <a:rPr lang="en-US" dirty="0">
                <a:latin typeface="Times New Roman" panose="02020603050405020304" pitchFamily="18" charset="0"/>
                <a:cs typeface="Times New Roman" panose="02020603050405020304" pitchFamily="18" charset="0"/>
              </a:rPr>
              <a:t>The core processing engine that converts raw data into clean, consistent, and usable information.</a:t>
            </a:r>
          </a:p>
          <a:p>
            <a:pPr>
              <a:lnSpc>
                <a:spcPct val="150000"/>
              </a:lnSpc>
              <a:buNone/>
            </a:pPr>
            <a:r>
              <a:rPr lang="en-US" b="1" dirty="0">
                <a:latin typeface="Times New Roman" panose="02020603050405020304" pitchFamily="18" charset="0"/>
                <a:cs typeface="Times New Roman" panose="02020603050405020304" pitchFamily="18" charset="0"/>
              </a:rPr>
              <a:t>Key Functions: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Extraction (E):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Collecting data from staging or directly from source systems.</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Pulling daily order and customer files from Amazon S3 staging area into the ETL pipeline.</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Transformation (T):</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Cleansing:</a:t>
            </a:r>
            <a:r>
              <a:rPr lang="en-US" dirty="0">
                <a:latin typeface="Times New Roman" panose="02020603050405020304" pitchFamily="18" charset="0"/>
                <a:cs typeface="Times New Roman" panose="02020603050405020304" pitchFamily="18" charset="0"/>
              </a:rPr>
              <a:t> Standardizing formats, correcting errors, handling nulls.</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Converting “N/A” to NULL or ensuring phone numbers follow a single format.</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Integration:</a:t>
            </a:r>
            <a:r>
              <a:rPr lang="en-US" dirty="0">
                <a:latin typeface="Times New Roman" panose="02020603050405020304" pitchFamily="18" charset="0"/>
                <a:cs typeface="Times New Roman" panose="02020603050405020304" pitchFamily="18" charset="0"/>
              </a:rPr>
              <a:t> Combining data from multiple systems.</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Joining employee data from SAP with attendance data from a CSV file.</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Aggregation &amp; Derivation:</a:t>
            </a:r>
            <a:r>
              <a:rPr lang="en-US" dirty="0">
                <a:latin typeface="Times New Roman" panose="02020603050405020304" pitchFamily="18" charset="0"/>
                <a:cs typeface="Times New Roman" panose="02020603050405020304" pitchFamily="18" charset="0"/>
              </a:rPr>
              <a:t> Creating summarized or derived metrics.</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Aggregating daily revenue to monthly totals; deriving “Profit = Sales – Cost.”</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Loading (L):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Moving the transformed data into the </a:t>
            </a:r>
            <a:r>
              <a:rPr lang="en-US" b="1" dirty="0">
                <a:latin typeface="Times New Roman" panose="02020603050405020304" pitchFamily="18" charset="0"/>
                <a:cs typeface="Times New Roman" panose="02020603050405020304" pitchFamily="18" charset="0"/>
              </a:rPr>
              <a:t>Data Storage Layer</a:t>
            </a:r>
            <a:r>
              <a:rPr lang="en-US" dirty="0">
                <a:latin typeface="Times New Roman" panose="02020603050405020304" pitchFamily="18" charset="0"/>
                <a:cs typeface="Times New Roman" panose="02020603050405020304" pitchFamily="18" charset="0"/>
              </a:rPr>
              <a:t> (like a warehouse or data lake).</a:t>
            </a:r>
            <a:br>
              <a:rPr lang="en-US"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Loading final fact and dimension tables into Snowflake or </a:t>
            </a:r>
            <a:r>
              <a:rPr lang="en-US" dirty="0" err="1">
                <a:latin typeface="Times New Roman" panose="02020603050405020304" pitchFamily="18" charset="0"/>
                <a:cs typeface="Times New Roman" panose="02020603050405020304" pitchFamily="18" charset="0"/>
              </a:rPr>
              <a:t>BigQuery</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Technologies Used: </a:t>
            </a:r>
            <a:r>
              <a:rPr lang="en-US" dirty="0">
                <a:latin typeface="Times New Roman" panose="02020603050405020304" pitchFamily="18" charset="0"/>
                <a:cs typeface="Times New Roman" panose="02020603050405020304" pitchFamily="18" charset="0"/>
              </a:rPr>
              <a:t>Informatica, Talend, SSIS, AWS Glue, Azure Data Factory, Google Cloud Dataflow, Apache Spark</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Real-World Example: </a:t>
            </a:r>
            <a:r>
              <a:rPr lang="en-US" dirty="0">
                <a:latin typeface="Times New Roman" panose="02020603050405020304" pitchFamily="18" charset="0"/>
                <a:cs typeface="Times New Roman" panose="02020603050405020304" pitchFamily="18" charset="0"/>
              </a:rPr>
              <a:t>A retail company extracts sales and customer data from Salesforce and Oracle, transforms it in AWS Glue to fix inconsistent product codes and aggregate daily sales, then loads it into Snowflake for dashboards and analytics.</a:t>
            </a:r>
          </a:p>
        </p:txBody>
      </p:sp>
    </p:spTree>
    <p:extLst>
      <p:ext uri="{BB962C8B-B14F-4D97-AF65-F5344CB8AC3E}">
        <p14:creationId xmlns:p14="http://schemas.microsoft.com/office/powerpoint/2010/main" val="711258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58282-60D5-DEF8-EE1B-DF74FFB5E33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Different Layers in Architecture</a:t>
            </a:r>
            <a:endParaRPr lang="en-US" dirty="0"/>
          </a:p>
        </p:txBody>
      </p:sp>
      <p:sp>
        <p:nvSpPr>
          <p:cNvPr id="5" name="TextBox 4">
            <a:extLst>
              <a:ext uri="{FF2B5EF4-FFF2-40B4-BE49-F238E27FC236}">
                <a16:creationId xmlns:a16="http://schemas.microsoft.com/office/drawing/2014/main" id="{B94FD9C7-52B2-76A6-F318-D0402094F2C7}"/>
              </a:ext>
            </a:extLst>
          </p:cNvPr>
          <p:cNvSpPr txBox="1"/>
          <p:nvPr/>
        </p:nvSpPr>
        <p:spPr>
          <a:xfrm>
            <a:off x="372140" y="1012185"/>
            <a:ext cx="11819860" cy="5355312"/>
          </a:xfrm>
          <a:prstGeom prst="rect">
            <a:avLst/>
          </a:prstGeom>
          <a:noFill/>
        </p:spPr>
        <p:txBody>
          <a:bodyPr wrap="square" lIns="91440" tIns="45720" rIns="91440" bIns="45720" anchor="t">
            <a:spAutoFit/>
          </a:bodyPr>
          <a:lstStyle/>
          <a:p>
            <a:r>
              <a:rPr lang="en-US" b="1" dirty="0">
                <a:solidFill>
                  <a:schemeClr val="tx2">
                    <a:lumMod val="75000"/>
                    <a:lumOff val="25000"/>
                  </a:schemeClr>
                </a:solidFill>
                <a:latin typeface="Times New Roman" panose="02020603050405020304" pitchFamily="18" charset="0"/>
                <a:cs typeface="Times New Roman" panose="02020603050405020304" pitchFamily="18" charset="0"/>
              </a:rPr>
              <a:t>5. Data Storage Layer: </a:t>
            </a:r>
            <a:r>
              <a:rPr lang="en-US" dirty="0">
                <a:latin typeface="Times New Roman" panose="02020603050405020304" pitchFamily="18" charset="0"/>
                <a:cs typeface="Times New Roman" panose="02020603050405020304" pitchFamily="18" charset="0"/>
              </a:rPr>
              <a:t>The central repository for storing all historical, integrated, and transformed data. This is the core data warehouse itself.</a:t>
            </a:r>
          </a:p>
          <a:p>
            <a:r>
              <a:rPr lang="en-US" b="1" dirty="0">
                <a:latin typeface="Times New Roman" panose="02020603050405020304" pitchFamily="18" charset="0"/>
                <a:cs typeface="Times New Roman" panose="02020603050405020304" pitchFamily="18" charset="0"/>
              </a:rPr>
              <a:t>Key Functions:</a:t>
            </a:r>
            <a:endParaRPr lang="en-US"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Long-Term, Secure Storage:</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Retains years of historical and business-critical data for analytics.</a:t>
            </a:r>
            <a:br>
              <a:rPr lang="en-US" altLang="en-US" dirty="0">
                <a:latin typeface="Times New Roman" panose="02020603050405020304" pitchFamily="18" charset="0"/>
                <a:cs typeface="Times New Roman" panose="02020603050405020304" pitchFamily="18" charset="0"/>
              </a:rPr>
            </a:br>
            <a:r>
              <a:rPr lang="en-US" altLang="en-US" i="1" dirty="0">
                <a:latin typeface="Times New Roman" panose="02020603050405020304" pitchFamily="18" charset="0"/>
                <a:cs typeface="Times New Roman" panose="02020603050405020304" pitchFamily="18" charset="0"/>
              </a:rPr>
              <a:t>Example:</a:t>
            </a:r>
            <a:r>
              <a:rPr lang="en-US" altLang="en-US" dirty="0">
                <a:latin typeface="Times New Roman" panose="02020603050405020304" pitchFamily="18" charset="0"/>
                <a:cs typeface="Times New Roman" panose="02020603050405020304" pitchFamily="18" charset="0"/>
              </a:rPr>
              <a:t> Keeping 5 years of sales and customer data for trend analysis.</a:t>
            </a:r>
          </a:p>
          <a:p>
            <a:pPr marL="285750" lvl="0" indent="-285750" eaLnBrk="0" fontAlgn="base" hangingPunct="0">
              <a:spcBef>
                <a:spcPct val="0"/>
              </a:spcBef>
              <a:spcAft>
                <a:spcPct val="0"/>
              </a:spcAft>
              <a:buFont typeface="Arial" panose="020B0604020202020204" pitchFamily="34" charset="0"/>
              <a:buChar char="•"/>
            </a:pPr>
            <a:r>
              <a:rPr lang="en-US" altLang="en-US" b="1" dirty="0">
                <a:latin typeface="Times New Roman"/>
                <a:cs typeface="Times New Roman"/>
              </a:rPr>
              <a:t>Data Organization:</a:t>
            </a:r>
            <a:br>
              <a:rPr lang="en-US" altLang="en-US" dirty="0">
                <a:latin typeface="Times New Roman" panose="02020603050405020304" pitchFamily="18" charset="0"/>
                <a:cs typeface="Times New Roman" panose="02020603050405020304" pitchFamily="18" charset="0"/>
              </a:rPr>
            </a:br>
            <a:r>
              <a:rPr lang="en-US" altLang="en-US" dirty="0">
                <a:latin typeface="Times New Roman"/>
                <a:cs typeface="Times New Roman"/>
              </a:rPr>
              <a:t>Data is modeled using Star Schema or Snowflake Schema to support analytical queries efficiently.</a:t>
            </a:r>
            <a:br>
              <a:rPr lang="en-US" altLang="en-US" dirty="0">
                <a:latin typeface="Times New Roman" panose="02020603050405020304" pitchFamily="18" charset="0"/>
                <a:cs typeface="Times New Roman" panose="02020603050405020304" pitchFamily="18" charset="0"/>
              </a:rPr>
            </a:br>
            <a:r>
              <a:rPr lang="en-US" altLang="en-US" i="1" dirty="0">
                <a:latin typeface="Times New Roman"/>
                <a:cs typeface="Times New Roman"/>
              </a:rPr>
              <a:t>Example:</a:t>
            </a:r>
            <a:r>
              <a:rPr lang="en-US" altLang="en-US" dirty="0">
                <a:latin typeface="Times New Roman"/>
                <a:cs typeface="Times New Roman"/>
              </a:rPr>
              <a:t> Fact tables like </a:t>
            </a:r>
            <a:r>
              <a:rPr lang="en-US" altLang="en-US" err="1">
                <a:latin typeface="Times New Roman"/>
                <a:cs typeface="Times New Roman"/>
              </a:rPr>
              <a:t>sales_fact</a:t>
            </a:r>
            <a:r>
              <a:rPr lang="en-US" altLang="en-US" dirty="0">
                <a:latin typeface="Times New Roman"/>
                <a:cs typeface="Times New Roman"/>
              </a:rPr>
              <a:t> linked to dimension tables such as </a:t>
            </a:r>
            <a:r>
              <a:rPr lang="en-US" altLang="en-US" err="1">
                <a:latin typeface="Times New Roman"/>
                <a:cs typeface="Times New Roman"/>
              </a:rPr>
              <a:t>customer_dim</a:t>
            </a:r>
            <a:r>
              <a:rPr lang="en-US" altLang="en-US" dirty="0">
                <a:latin typeface="Times New Roman"/>
                <a:cs typeface="Times New Roman"/>
              </a:rPr>
              <a:t> and </a:t>
            </a:r>
            <a:r>
              <a:rPr lang="en-US" altLang="en-US" err="1">
                <a:latin typeface="Times New Roman"/>
                <a:cs typeface="Times New Roman"/>
              </a:rPr>
              <a:t>product_dim</a:t>
            </a:r>
            <a:r>
              <a:rPr lang="en-US" altLang="en-US" dirty="0">
                <a:latin typeface="Times New Roman"/>
                <a:cs typeface="Times New Roman"/>
              </a:rPr>
              <a:t>.</a:t>
            </a:r>
          </a:p>
          <a:p>
            <a:pPr marL="285750" lvl="0" indent="-285750" eaLnBrk="0" fontAlgn="base" hangingPunct="0">
              <a:spcBef>
                <a:spcPct val="0"/>
              </a:spcBef>
              <a:spcAft>
                <a:spcPct val="0"/>
              </a:spcAft>
              <a:buFont typeface="Arial" panose="020B0604020202020204" pitchFamily="34" charset="0"/>
              <a:buChar char="•"/>
            </a:pPr>
            <a:r>
              <a:rPr lang="en-US" altLang="en-US" b="1" dirty="0">
                <a:latin typeface="Times New Roman"/>
                <a:cs typeface="Times New Roman"/>
              </a:rPr>
              <a:t>Query Performance:</a:t>
            </a:r>
            <a:br>
              <a:rPr lang="en-US" altLang="en-US" dirty="0">
                <a:latin typeface="Times New Roman" panose="02020603050405020304" pitchFamily="18" charset="0"/>
                <a:cs typeface="Times New Roman" panose="02020603050405020304" pitchFamily="18" charset="0"/>
              </a:rPr>
            </a:br>
            <a:r>
              <a:rPr lang="en-US" altLang="en-US" dirty="0">
                <a:latin typeface="Times New Roman"/>
                <a:cs typeface="Times New Roman"/>
              </a:rPr>
              <a:t>Uses techniques like partitioning, indexing, and columnar storage to optimize large query execution.</a:t>
            </a:r>
            <a:br>
              <a:rPr lang="en-US" altLang="en-US" dirty="0">
                <a:latin typeface="Times New Roman" panose="02020603050405020304" pitchFamily="18" charset="0"/>
                <a:cs typeface="Times New Roman" panose="02020603050405020304" pitchFamily="18" charset="0"/>
              </a:rPr>
            </a:br>
            <a:r>
              <a:rPr lang="en-US" altLang="en-US" i="1" dirty="0">
                <a:latin typeface="Times New Roman"/>
                <a:cs typeface="Times New Roman"/>
              </a:rPr>
              <a:t>Example:</a:t>
            </a:r>
            <a:r>
              <a:rPr lang="en-US" altLang="en-US" dirty="0">
                <a:latin typeface="Times New Roman"/>
                <a:cs typeface="Times New Roman"/>
              </a:rPr>
              <a:t> Querying monthly revenue by region in seconds instead of minutes.</a:t>
            </a:r>
          </a:p>
          <a:p>
            <a:r>
              <a:rPr lang="en-US" b="1" dirty="0">
                <a:latin typeface="Times New Roman" panose="02020603050405020304" pitchFamily="18" charset="0"/>
                <a:cs typeface="Times New Roman" panose="02020603050405020304" pitchFamily="18" charset="0"/>
              </a:rPr>
              <a:t>Technologies Used: </a:t>
            </a:r>
            <a:r>
              <a:rPr lang="en-US" dirty="0">
                <a:latin typeface="Times New Roman" panose="02020603050405020304" pitchFamily="18" charset="0"/>
                <a:cs typeface="Times New Roman" panose="02020603050405020304" pitchFamily="18" charset="0"/>
              </a:rPr>
              <a:t>Amazon Redshift, Google </a:t>
            </a:r>
            <a:r>
              <a:rPr lang="en-US" dirty="0" err="1">
                <a:latin typeface="Times New Roman" panose="02020603050405020304" pitchFamily="18" charset="0"/>
                <a:cs typeface="Times New Roman" panose="02020603050405020304" pitchFamily="18" charset="0"/>
              </a:rPr>
              <a:t>BigQuery</a:t>
            </a:r>
            <a:r>
              <a:rPr lang="en-US" dirty="0">
                <a:latin typeface="Times New Roman" panose="02020603050405020304" pitchFamily="18" charset="0"/>
                <a:cs typeface="Times New Roman" panose="02020603050405020304" pitchFamily="18" charset="0"/>
              </a:rPr>
              <a:t>, Snowflake, Azure Synapse Analytics, Oracle, Teradata.</a:t>
            </a:r>
          </a:p>
          <a:p>
            <a:endParaRPr lang="en-US" dirty="0">
              <a:latin typeface="Times New Roman" panose="02020603050405020304" pitchFamily="18" charset="0"/>
              <a:cs typeface="Times New Roman" panose="02020603050405020304" pitchFamily="18" charset="0"/>
            </a:endParaRPr>
          </a:p>
          <a:p>
            <a:r>
              <a:rPr lang="en-US" b="1" dirty="0">
                <a:latin typeface="Times New Roman"/>
                <a:cs typeface="Times New Roman"/>
              </a:rPr>
              <a:t>Real-World Example: </a:t>
            </a:r>
            <a:r>
              <a:rPr lang="en-US" dirty="0">
                <a:latin typeface="Times New Roman"/>
                <a:cs typeface="Times New Roman"/>
              </a:rPr>
              <a:t>A global e-commerce company stores its transactional, product, and customer data in Snowflake.</a:t>
            </a:r>
            <a:br>
              <a:rPr lang="en-US" dirty="0">
                <a:latin typeface="Times New Roman" panose="02020603050405020304" pitchFamily="18" charset="0"/>
                <a:cs typeface="Times New Roman" panose="02020603050405020304" pitchFamily="18" charset="0"/>
              </a:rPr>
            </a:br>
            <a:r>
              <a:rPr lang="en-US" dirty="0">
                <a:latin typeface="Times New Roman"/>
                <a:cs typeface="Times New Roman"/>
              </a:rPr>
              <a:t>This enables business analysts to quickly query metrics like “Top 10 products by revenue last quarter” or “Year-over-year sales growth,” using BI tools like Power BI or Tableau that connect directly to the storage layer.</a:t>
            </a:r>
          </a:p>
          <a:p>
            <a:endParaRPr lang="en-US" dirty="0">
              <a:latin typeface="Times New Roman" panose="02020603050405020304" pitchFamily="18" charset="0"/>
              <a:cs typeface="Times New Roman" panose="02020603050405020304" pitchFamily="18" charset="0"/>
            </a:endParaRPr>
          </a:p>
          <a:p>
            <a:r>
              <a:rPr lang="en-US" b="1" dirty="0">
                <a:latin typeface="Times New Roman"/>
                <a:cs typeface="Times New Roman"/>
              </a:rPr>
              <a:t>Interaction:</a:t>
            </a:r>
            <a:r>
              <a:rPr lang="en-US" dirty="0">
                <a:latin typeface="Times New Roman"/>
                <a:cs typeface="Times New Roman"/>
              </a:rPr>
              <a:t> Receives clean data from the ETL Layer and provides it to the Data Logic Layer.</a:t>
            </a:r>
          </a:p>
        </p:txBody>
      </p:sp>
    </p:spTree>
    <p:extLst>
      <p:ext uri="{BB962C8B-B14F-4D97-AF65-F5344CB8AC3E}">
        <p14:creationId xmlns:p14="http://schemas.microsoft.com/office/powerpoint/2010/main" val="482200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B40D7-3D13-EA3D-40B4-D98FAF4FD1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5DB9E-45E0-10D2-C463-1AFB64F768E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Different Layers in Architecture</a:t>
            </a:r>
            <a:endParaRPr lang="en-US" dirty="0"/>
          </a:p>
        </p:txBody>
      </p:sp>
      <p:sp>
        <p:nvSpPr>
          <p:cNvPr id="5" name="TextBox 4">
            <a:extLst>
              <a:ext uri="{FF2B5EF4-FFF2-40B4-BE49-F238E27FC236}">
                <a16:creationId xmlns:a16="http://schemas.microsoft.com/office/drawing/2014/main" id="{EB4084C1-46D4-CF56-3865-3AD58771F5F3}"/>
              </a:ext>
            </a:extLst>
          </p:cNvPr>
          <p:cNvSpPr txBox="1"/>
          <p:nvPr/>
        </p:nvSpPr>
        <p:spPr>
          <a:xfrm>
            <a:off x="372140" y="1012185"/>
            <a:ext cx="11819860" cy="5444054"/>
          </a:xfrm>
          <a:prstGeom prst="rect">
            <a:avLst/>
          </a:prstGeom>
          <a:noFill/>
        </p:spPr>
        <p:txBody>
          <a:bodyPr wrap="square" lIns="91440" tIns="45720" rIns="91440" bIns="45720" anchor="t">
            <a:spAutoFit/>
          </a:bodyPr>
          <a:lstStyle/>
          <a:p>
            <a:pPr>
              <a:lnSpc>
                <a:spcPct val="150000"/>
              </a:lnSpc>
            </a:pPr>
            <a:r>
              <a:rPr lang="en-US" b="1" dirty="0">
                <a:solidFill>
                  <a:schemeClr val="tx2">
                    <a:lumMod val="75000"/>
                    <a:lumOff val="25000"/>
                  </a:schemeClr>
                </a:solidFill>
                <a:latin typeface="Times New Roman" panose="02020603050405020304" pitchFamily="18" charset="0"/>
                <a:cs typeface="Times New Roman" panose="02020603050405020304" pitchFamily="18" charset="0"/>
              </a:rPr>
              <a:t>6. Data Logic Layer: </a:t>
            </a:r>
            <a:r>
              <a:rPr lang="en-US" dirty="0">
                <a:latin typeface="Times New Roman" panose="02020603050405020304" pitchFamily="18" charset="0"/>
                <a:cs typeface="Times New Roman" panose="02020603050405020304" pitchFamily="18" charset="0"/>
              </a:rPr>
              <a:t>Creates customized, aggregated views of data for specific business functions or departments. This is where data marts are typically found.</a:t>
            </a:r>
          </a:p>
          <a:p>
            <a:pPr>
              <a:lnSpc>
                <a:spcPct val="150000"/>
              </a:lnSpc>
            </a:pPr>
            <a:r>
              <a:rPr lang="en-US" b="1" dirty="0">
                <a:latin typeface="Times New Roman" panose="02020603050405020304" pitchFamily="18" charset="0"/>
                <a:cs typeface="Times New Roman" panose="02020603050405020304" pitchFamily="18" charset="0"/>
              </a:rPr>
              <a:t>Key Functions:</a:t>
            </a:r>
            <a:endParaRPr lang="en-US" dirty="0">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Apply Business Rules: </a:t>
            </a:r>
            <a:r>
              <a:rPr lang="en-US" altLang="en-US" dirty="0">
                <a:latin typeface="Times New Roman" panose="02020603050405020304" pitchFamily="18" charset="0"/>
                <a:cs typeface="Times New Roman" panose="02020603050405020304" pitchFamily="18" charset="0"/>
              </a:rPr>
              <a:t>Implements business metrics e.g., calculating Customer Lifetime Value (CLV) or Profit Margin per Product.</a:t>
            </a:r>
          </a:p>
          <a:p>
            <a:pPr marL="742950" lvl="1" indent="-28575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Aggregation: </a:t>
            </a:r>
            <a:r>
              <a:rPr lang="en-US" altLang="en-US" dirty="0">
                <a:latin typeface="Times New Roman" panose="02020603050405020304" pitchFamily="18" charset="0"/>
                <a:cs typeface="Times New Roman" panose="02020603050405020304" pitchFamily="18" charset="0"/>
              </a:rPr>
              <a:t>Summarizes large data sets e.g., computing Monthly Revenue by Region or Total Orders per Customer.</a:t>
            </a:r>
          </a:p>
          <a:p>
            <a:pPr marL="742950" lvl="1" indent="-28575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Structuring: </a:t>
            </a:r>
            <a:r>
              <a:rPr lang="en-US" altLang="en-US" dirty="0">
                <a:latin typeface="Times New Roman" panose="02020603050405020304" pitchFamily="18" charset="0"/>
                <a:cs typeface="Times New Roman" panose="02020603050405020304" pitchFamily="18" charset="0"/>
              </a:rPr>
              <a:t>Organizes data into subject-specific marts e.g., Sales Mart for order trends, Marketing Mart for campaign performance.</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Technologies Used: </a:t>
            </a:r>
            <a:r>
              <a:rPr lang="en-US" dirty="0">
                <a:latin typeface="Times New Roman" panose="02020603050405020304" pitchFamily="18" charset="0"/>
                <a:cs typeface="Times New Roman" panose="02020603050405020304" pitchFamily="18" charset="0"/>
              </a:rPr>
              <a:t>OLAP Engines ,Database Views and Materialized Views, Microsoft SQL Server Analysis Services (SSAS).</a:t>
            </a:r>
          </a:p>
          <a:p>
            <a:pPr>
              <a:lnSpc>
                <a:spcPct val="150000"/>
              </a:lnSpc>
            </a:pPr>
            <a:r>
              <a:rPr lang="en-US" b="1" dirty="0">
                <a:latin typeface="Times New Roman" panose="02020603050405020304" pitchFamily="18" charset="0"/>
                <a:cs typeface="Times New Roman" panose="02020603050405020304" pitchFamily="18" charset="0"/>
              </a:rPr>
              <a:t>Real-World Use Case: </a:t>
            </a:r>
            <a:r>
              <a:rPr lang="en-US" dirty="0">
                <a:latin typeface="Times New Roman" panose="02020603050405020304" pitchFamily="18" charset="0"/>
                <a:cs typeface="Times New Roman" panose="02020603050405020304" pitchFamily="18" charset="0"/>
              </a:rPr>
              <a:t>A telecom firm uses Snowflake marts—Customer Mart for churn insights and Billing Mart for revenue tracking feeding dashboards in Tableau and Power BI.</a:t>
            </a:r>
          </a:p>
          <a:p>
            <a:pPr>
              <a:lnSpc>
                <a:spcPct val="150000"/>
              </a:lnSpc>
            </a:pPr>
            <a:r>
              <a:rPr lang="en-US" b="1" dirty="0">
                <a:latin typeface="Times New Roman"/>
                <a:cs typeface="Times New Roman"/>
              </a:rPr>
              <a:t>Interaction:</a:t>
            </a:r>
            <a:r>
              <a:rPr lang="en-US" dirty="0">
                <a:latin typeface="Times New Roman"/>
                <a:cs typeface="Times New Roman"/>
              </a:rPr>
              <a:t> Sits on top of the Data Storage Layer and serves data to the Data Presentation Layer.</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3720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80EE9-19F7-3227-38E9-DD7B7676D5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FBC7B-BCB5-E962-73BA-451B3391FCC8}"/>
              </a:ext>
            </a:extLst>
          </p:cNvPr>
          <p:cNvSpPr>
            <a:spLocks noGrp="1"/>
          </p:cNvSpPr>
          <p:nvPr>
            <p:ph type="title"/>
          </p:nvPr>
        </p:nvSpPr>
        <p:spPr>
          <a:xfrm>
            <a:off x="692174" y="571696"/>
            <a:ext cx="10807652" cy="440488"/>
          </a:xfrm>
        </p:spPr>
        <p:txBody>
          <a:bodyPr/>
          <a:lstStyle/>
          <a:p>
            <a:r>
              <a:rPr lang="en-US" dirty="0">
                <a:latin typeface="Times New Roman" panose="02020603050405020304" pitchFamily="18" charset="0"/>
                <a:cs typeface="Times New Roman" panose="02020603050405020304" pitchFamily="18" charset="0"/>
              </a:rPr>
              <a:t>Different Layers in Architecture</a:t>
            </a:r>
            <a:endParaRPr lang="en-US" dirty="0"/>
          </a:p>
        </p:txBody>
      </p:sp>
      <p:sp>
        <p:nvSpPr>
          <p:cNvPr id="3" name="Text Placeholder 2">
            <a:extLst>
              <a:ext uri="{FF2B5EF4-FFF2-40B4-BE49-F238E27FC236}">
                <a16:creationId xmlns:a16="http://schemas.microsoft.com/office/drawing/2014/main" id="{56070A51-B38C-44DC-317C-2B87C70B8E24}"/>
              </a:ext>
            </a:extLst>
          </p:cNvPr>
          <p:cNvSpPr>
            <a:spLocks noGrp="1"/>
          </p:cNvSpPr>
          <p:nvPr>
            <p:ph type="body" sz="quarter" idx="10"/>
          </p:nvPr>
        </p:nvSpPr>
        <p:spPr>
          <a:xfrm>
            <a:off x="344130" y="1012186"/>
            <a:ext cx="11628132" cy="4759349"/>
          </a:xfrm>
        </p:spPr>
        <p:txBody>
          <a:bodyPr>
            <a:noAutofit/>
          </a:bodyPr>
          <a:lstStyle/>
          <a:p>
            <a:pPr marL="0" indent="0">
              <a:lnSpc>
                <a:spcPct val="100000"/>
              </a:lnSpc>
              <a:buNone/>
            </a:pPr>
            <a:r>
              <a:rPr lang="en-US" sz="1800" b="1" dirty="0">
                <a:solidFill>
                  <a:schemeClr val="tx2">
                    <a:lumMod val="75000"/>
                    <a:lumOff val="25000"/>
                  </a:schemeClr>
                </a:solidFill>
                <a:latin typeface="Times New Roman" panose="02020603050405020304" pitchFamily="18" charset="0"/>
                <a:cs typeface="Times New Roman" panose="02020603050405020304" pitchFamily="18" charset="0"/>
              </a:rPr>
              <a:t>7. Data Presentation Layer: </a:t>
            </a:r>
            <a:r>
              <a:rPr lang="en-US" sz="1800" dirty="0">
                <a:latin typeface="Times New Roman" panose="02020603050405020304" pitchFamily="18" charset="0"/>
                <a:cs typeface="Times New Roman" panose="02020603050405020304" pitchFamily="18" charset="0"/>
              </a:rPr>
              <a:t>The user-facing layer that provides tools for querying, reporting, visualization, and data mining.</a:t>
            </a:r>
          </a:p>
          <a:p>
            <a:pPr marL="0" indent="0">
              <a:lnSpc>
                <a:spcPct val="100000"/>
              </a:lnSpc>
              <a:buNone/>
            </a:pPr>
            <a:r>
              <a:rPr lang="en-US" sz="1800" b="1" dirty="0">
                <a:latin typeface="Times New Roman" panose="02020603050405020304" pitchFamily="18" charset="0"/>
                <a:cs typeface="Times New Roman" panose="02020603050405020304" pitchFamily="18" charset="0"/>
              </a:rPr>
              <a:t>Key Functions:</a:t>
            </a:r>
            <a:endParaRPr lang="en-US" sz="1800" dirty="0">
              <a:latin typeface="Times New Roman" panose="02020603050405020304" pitchFamily="18" charset="0"/>
              <a:cs typeface="Times New Roman" panose="02020603050405020304" pitchFamily="18" charset="0"/>
            </a:endParaRPr>
          </a:p>
          <a:p>
            <a:pPr lvl="1" eaLnBrk="0" fontAlgn="base" hangingPunct="0">
              <a:lnSpc>
                <a:spcPct val="100000"/>
              </a:lnSpc>
              <a:spcBef>
                <a:spcPct val="0"/>
              </a:spcBef>
              <a:spcAft>
                <a:spcPct val="0"/>
              </a:spcAft>
              <a:buClrTx/>
            </a:pPr>
            <a:r>
              <a:rPr lang="en-US" altLang="en-US" sz="1800" b="1" dirty="0">
                <a:latin typeface="Times New Roman" panose="02020603050405020304" pitchFamily="18" charset="0"/>
                <a:cs typeface="Times New Roman" panose="02020603050405020304" pitchFamily="18" charset="0"/>
              </a:rPr>
              <a:t>Reporting: </a:t>
            </a:r>
            <a:r>
              <a:rPr lang="en-US" altLang="en-US" sz="1800" dirty="0">
                <a:latin typeface="Times New Roman" panose="02020603050405020304" pitchFamily="18" charset="0"/>
                <a:cs typeface="Times New Roman" panose="02020603050405020304" pitchFamily="18" charset="0"/>
              </a:rPr>
              <a:t>Generates standardized insights e.g., Monthly Sales Performance Report or Quarterly Financial Summary.</a:t>
            </a:r>
          </a:p>
          <a:p>
            <a:pPr lvl="1" eaLnBrk="0" fontAlgn="base" hangingPunct="0">
              <a:lnSpc>
                <a:spcPct val="100000"/>
              </a:lnSpc>
              <a:spcBef>
                <a:spcPct val="0"/>
              </a:spcBef>
              <a:spcAft>
                <a:spcPct val="0"/>
              </a:spcAft>
              <a:buClrTx/>
            </a:pPr>
            <a:r>
              <a:rPr lang="en-US" altLang="en-US" sz="1800" b="1" dirty="0">
                <a:latin typeface="Times New Roman" panose="02020603050405020304" pitchFamily="18" charset="0"/>
                <a:cs typeface="Times New Roman" panose="02020603050405020304" pitchFamily="18" charset="0"/>
              </a:rPr>
              <a:t>Ad-Hoc Querying: </a:t>
            </a:r>
            <a:r>
              <a:rPr lang="en-US" altLang="en-US" sz="1800" dirty="0">
                <a:latin typeface="Times New Roman" panose="02020603050405020304" pitchFamily="18" charset="0"/>
                <a:cs typeface="Times New Roman" panose="02020603050405020304" pitchFamily="18" charset="0"/>
              </a:rPr>
              <a:t>Enables analysts to write custom SQL or drag-and-drop filters e.g., exploring customer churn by region.</a:t>
            </a:r>
          </a:p>
          <a:p>
            <a:pPr lvl="1" eaLnBrk="0" fontAlgn="base" hangingPunct="0">
              <a:lnSpc>
                <a:spcPct val="100000"/>
              </a:lnSpc>
              <a:spcBef>
                <a:spcPct val="0"/>
              </a:spcBef>
              <a:spcAft>
                <a:spcPct val="0"/>
              </a:spcAft>
              <a:buClrTx/>
            </a:pPr>
            <a:r>
              <a:rPr lang="en-US" altLang="en-US" sz="1800" b="1" dirty="0">
                <a:latin typeface="Times New Roman" panose="02020603050405020304" pitchFamily="18" charset="0"/>
                <a:cs typeface="Times New Roman" panose="02020603050405020304" pitchFamily="18" charset="0"/>
              </a:rPr>
              <a:t>Dashboarding &amp; Visualization: </a:t>
            </a:r>
            <a:r>
              <a:rPr lang="en-US" altLang="en-US" sz="1800" dirty="0">
                <a:latin typeface="Times New Roman" panose="02020603050405020304" pitchFamily="18" charset="0"/>
                <a:cs typeface="Times New Roman" panose="02020603050405020304" pitchFamily="18" charset="0"/>
              </a:rPr>
              <a:t>Builds interactive visuals e.g., Tableau dashboard for product-wise revenue trends or Power BI KPI boards.</a:t>
            </a:r>
          </a:p>
          <a:p>
            <a:pPr lvl="1" eaLnBrk="0" fontAlgn="base" hangingPunct="0">
              <a:lnSpc>
                <a:spcPct val="100000"/>
              </a:lnSpc>
              <a:spcBef>
                <a:spcPct val="0"/>
              </a:spcBef>
              <a:spcAft>
                <a:spcPct val="0"/>
              </a:spcAft>
              <a:buClrTx/>
            </a:pPr>
            <a:r>
              <a:rPr lang="en-US" altLang="en-US" sz="1800" b="1" dirty="0">
                <a:latin typeface="Times New Roman" panose="02020603050405020304" pitchFamily="18" charset="0"/>
                <a:cs typeface="Times New Roman" panose="02020603050405020304" pitchFamily="18" charset="0"/>
              </a:rPr>
              <a:t>Data Mining &amp; Analytics: </a:t>
            </a:r>
            <a:r>
              <a:rPr lang="en-US" altLang="en-US" sz="1800" dirty="0">
                <a:latin typeface="Times New Roman" panose="02020603050405020304" pitchFamily="18" charset="0"/>
                <a:cs typeface="Times New Roman" panose="02020603050405020304" pitchFamily="18" charset="0"/>
              </a:rPr>
              <a:t>Supports advanced use cases e.g., predicting sales growth or detecting customer behavior patterns using AI tools.</a:t>
            </a:r>
          </a:p>
          <a:p>
            <a:pPr marL="0" indent="0">
              <a:lnSpc>
                <a:spcPct val="100000"/>
              </a:lnSpc>
              <a:buNone/>
            </a:pPr>
            <a:r>
              <a:rPr lang="en-US" sz="1800" b="1" dirty="0">
                <a:latin typeface="Times New Roman" panose="02020603050405020304" pitchFamily="18" charset="0"/>
                <a:cs typeface="Times New Roman" panose="02020603050405020304" pitchFamily="18" charset="0"/>
              </a:rPr>
              <a:t>Technologies Used: </a:t>
            </a:r>
            <a:r>
              <a:rPr lang="en-US" sz="1800" dirty="0">
                <a:latin typeface="Times New Roman" panose="02020603050405020304" pitchFamily="18" charset="0"/>
                <a:cs typeface="Times New Roman" panose="02020603050405020304" pitchFamily="18" charset="0"/>
              </a:rPr>
              <a:t>Tableau, Microsoft Power BI, Looker, SQL Developer, Microsoft Excel (connected to the data warehouse)</a:t>
            </a:r>
          </a:p>
          <a:p>
            <a:pPr marL="0" indent="0">
              <a:lnSpc>
                <a:spcPct val="100000"/>
              </a:lnSpc>
              <a:buNone/>
            </a:pPr>
            <a:r>
              <a:rPr lang="en-US" sz="1800" b="1" dirty="0">
                <a:latin typeface="Times New Roman" panose="02020603050405020304" pitchFamily="18" charset="0"/>
                <a:cs typeface="Times New Roman" panose="02020603050405020304" pitchFamily="18" charset="0"/>
              </a:rPr>
              <a:t>Real-World Example: </a:t>
            </a:r>
            <a:r>
              <a:rPr lang="en-US" sz="1800" dirty="0">
                <a:latin typeface="Times New Roman" panose="02020603050405020304" pitchFamily="18" charset="0"/>
                <a:cs typeface="Times New Roman" panose="02020603050405020304" pitchFamily="18" charset="0"/>
              </a:rPr>
              <a:t>A retail company uses Power BI dashboards connected to Snowflake Data Marts to visualize sales by region, customer segments, and profit trends, helping managers make real-time business decisions.</a:t>
            </a:r>
          </a:p>
          <a:p>
            <a:pPr marL="0" indent="0">
              <a:lnSpc>
                <a:spcPct val="100000"/>
              </a:lnSpc>
              <a:buNone/>
            </a:pPr>
            <a:r>
              <a:rPr lang="en-US" sz="1800" b="1" dirty="0">
                <a:latin typeface="Times New Roman" panose="02020603050405020304" pitchFamily="18" charset="0"/>
                <a:cs typeface="Times New Roman" panose="02020603050405020304" pitchFamily="18" charset="0"/>
              </a:rPr>
              <a:t>Interaction:</a:t>
            </a:r>
            <a:r>
              <a:rPr lang="en-US" sz="1800" dirty="0">
                <a:latin typeface="Times New Roman" panose="02020603050405020304" pitchFamily="18" charset="0"/>
                <a:cs typeface="Times New Roman" panose="02020603050405020304" pitchFamily="18" charset="0"/>
              </a:rPr>
              <a:t> Connects to the Data Logic Layer (or directly to the Data Storage Layer) to retrieve data for analysis</a:t>
            </a:r>
          </a:p>
        </p:txBody>
      </p:sp>
    </p:spTree>
    <p:extLst>
      <p:ext uri="{BB962C8B-B14F-4D97-AF65-F5344CB8AC3E}">
        <p14:creationId xmlns:p14="http://schemas.microsoft.com/office/powerpoint/2010/main" val="3502306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9F65F-E8F6-B157-CC64-3A0340CAE357}"/>
              </a:ext>
            </a:extLst>
          </p:cNvPr>
          <p:cNvSpPr>
            <a:spLocks noGrp="1"/>
          </p:cNvSpPr>
          <p:nvPr>
            <p:ph type="title"/>
          </p:nvPr>
        </p:nvSpPr>
        <p:spPr>
          <a:xfrm>
            <a:off x="692174" y="571696"/>
            <a:ext cx="10807652" cy="440488"/>
          </a:xfrm>
        </p:spPr>
        <p:txBody>
          <a:bodyPr/>
          <a:lstStyle/>
          <a:p>
            <a:r>
              <a:rPr lang="en-US" dirty="0">
                <a:latin typeface="Times New Roman" panose="02020603050405020304" pitchFamily="18" charset="0"/>
                <a:cs typeface="Times New Roman" panose="02020603050405020304" pitchFamily="18" charset="0"/>
              </a:rPr>
              <a:t>Different Layers in Architecture</a:t>
            </a:r>
            <a:endParaRPr lang="en-US" dirty="0"/>
          </a:p>
        </p:txBody>
      </p:sp>
      <p:sp>
        <p:nvSpPr>
          <p:cNvPr id="3" name="Text Placeholder 2">
            <a:extLst>
              <a:ext uri="{FF2B5EF4-FFF2-40B4-BE49-F238E27FC236}">
                <a16:creationId xmlns:a16="http://schemas.microsoft.com/office/drawing/2014/main" id="{1D27ECB9-644B-BA37-99A9-DB5DA9454CA0}"/>
              </a:ext>
            </a:extLst>
          </p:cNvPr>
          <p:cNvSpPr>
            <a:spLocks noGrp="1"/>
          </p:cNvSpPr>
          <p:nvPr>
            <p:ph type="body" sz="quarter" idx="10"/>
          </p:nvPr>
        </p:nvSpPr>
        <p:spPr>
          <a:xfrm>
            <a:off x="537172" y="1012186"/>
            <a:ext cx="11435089" cy="5274118"/>
          </a:xfrm>
        </p:spPr>
        <p:txBody>
          <a:bodyPr>
            <a:noAutofit/>
          </a:bodyPr>
          <a:lstStyle/>
          <a:p>
            <a:pPr marL="0" indent="0">
              <a:lnSpc>
                <a:spcPct val="100000"/>
              </a:lnSpc>
              <a:buNone/>
            </a:pPr>
            <a:r>
              <a:rPr lang="en-US" sz="1800" b="1" dirty="0">
                <a:solidFill>
                  <a:schemeClr val="tx2">
                    <a:lumMod val="75000"/>
                    <a:lumOff val="25000"/>
                  </a:schemeClr>
                </a:solidFill>
                <a:latin typeface="Times New Roman" panose="02020603050405020304" pitchFamily="18" charset="0"/>
                <a:cs typeface="Times New Roman" panose="02020603050405020304" pitchFamily="18" charset="0"/>
              </a:rPr>
              <a:t>8. Metadata Layer: </a:t>
            </a:r>
            <a:r>
              <a:rPr lang="en-US" sz="1800" dirty="0">
                <a:latin typeface="Times New Roman" panose="02020603050405020304" pitchFamily="18" charset="0"/>
                <a:cs typeface="Times New Roman" panose="02020603050405020304" pitchFamily="18" charset="0"/>
              </a:rPr>
              <a:t>The "data about the data." It's the central nervous system that provides context and instructions for every other layer.</a:t>
            </a:r>
          </a:p>
          <a:p>
            <a:pPr marL="0" indent="0">
              <a:lnSpc>
                <a:spcPct val="100000"/>
              </a:lnSpc>
              <a:buNone/>
            </a:pPr>
            <a:r>
              <a:rPr lang="en-US" sz="1800" b="1" dirty="0">
                <a:latin typeface="Times New Roman" panose="02020603050405020304" pitchFamily="18" charset="0"/>
                <a:cs typeface="Times New Roman" panose="02020603050405020304" pitchFamily="18" charset="0"/>
              </a:rPr>
              <a:t>Key Functions:</a:t>
            </a:r>
            <a:endParaRPr lang="en-US" sz="1800" dirty="0">
              <a:latin typeface="Times New Roman" panose="02020603050405020304" pitchFamily="18" charset="0"/>
              <a:cs typeface="Times New Roman" panose="02020603050405020304" pitchFamily="18" charset="0"/>
            </a:endParaRPr>
          </a:p>
          <a:p>
            <a:pPr marL="503757" lvl="1" indent="-285750" eaLnBrk="0" fontAlgn="base" hangingPunct="0">
              <a:lnSpc>
                <a:spcPct val="100000"/>
              </a:lnSpc>
              <a:spcBef>
                <a:spcPct val="0"/>
              </a:spcBef>
              <a:spcAft>
                <a:spcPct val="0"/>
              </a:spcAft>
              <a:buClrTx/>
            </a:pPr>
            <a:r>
              <a:rPr lang="en-US" altLang="en-US" sz="1800" b="1" dirty="0">
                <a:latin typeface="Times New Roman" panose="02020603050405020304" pitchFamily="18" charset="0"/>
                <a:cs typeface="Times New Roman" panose="02020603050405020304" pitchFamily="18" charset="0"/>
              </a:rPr>
              <a:t>Stores Definitions:</a:t>
            </a:r>
            <a:r>
              <a:rPr lang="en-US" altLang="en-US" sz="1800" dirty="0">
                <a:latin typeface="Times New Roman" panose="02020603050405020304" pitchFamily="18" charset="0"/>
                <a:cs typeface="Times New Roman" panose="02020603050405020304" pitchFamily="18" charset="0"/>
              </a:rPr>
              <a:t> Contains details like </a:t>
            </a:r>
            <a:r>
              <a:rPr lang="en-US" altLang="en-US" sz="1800" i="1" dirty="0">
                <a:latin typeface="Times New Roman" panose="02020603050405020304" pitchFamily="18" charset="0"/>
                <a:cs typeface="Times New Roman" panose="02020603050405020304" pitchFamily="18" charset="0"/>
              </a:rPr>
              <a:t>“</a:t>
            </a:r>
            <a:r>
              <a:rPr lang="en-US" altLang="en-US" sz="1800" i="1" dirty="0" err="1">
                <a:latin typeface="Times New Roman" panose="02020603050405020304" pitchFamily="18" charset="0"/>
                <a:cs typeface="Times New Roman" panose="02020603050405020304" pitchFamily="18" charset="0"/>
              </a:rPr>
              <a:t>Customer_ID</a:t>
            </a:r>
            <a:r>
              <a:rPr lang="en-US" altLang="en-US" sz="1800" i="1" dirty="0">
                <a:latin typeface="Times New Roman" panose="02020603050405020304" pitchFamily="18" charset="0"/>
                <a:cs typeface="Times New Roman" panose="02020603050405020304" pitchFamily="18" charset="0"/>
              </a:rPr>
              <a:t>” = unique identifier for each customer</a:t>
            </a:r>
            <a:r>
              <a:rPr lang="en-US" altLang="en-US" sz="1800" dirty="0">
                <a:latin typeface="Times New Roman" panose="02020603050405020304" pitchFamily="18" charset="0"/>
                <a:cs typeface="Times New Roman" panose="02020603050405020304" pitchFamily="18" charset="0"/>
              </a:rPr>
              <a:t> or </a:t>
            </a:r>
            <a:r>
              <a:rPr lang="en-US" altLang="en-US" sz="1800" i="1" dirty="0" err="1">
                <a:latin typeface="Times New Roman" panose="02020603050405020304" pitchFamily="18" charset="0"/>
                <a:cs typeface="Times New Roman" panose="02020603050405020304" pitchFamily="18" charset="0"/>
              </a:rPr>
              <a:t>sales_date</a:t>
            </a:r>
            <a:r>
              <a:rPr lang="en-US" altLang="en-US" sz="1800" i="1" dirty="0">
                <a:latin typeface="Times New Roman" panose="02020603050405020304" pitchFamily="18" charset="0"/>
                <a:cs typeface="Times New Roman" panose="02020603050405020304" pitchFamily="18" charset="0"/>
              </a:rPr>
              <a:t> = transaction date.</a:t>
            </a:r>
            <a:endParaRPr lang="en-US" altLang="en-US" sz="1800" dirty="0">
              <a:latin typeface="Times New Roman" panose="02020603050405020304" pitchFamily="18" charset="0"/>
              <a:cs typeface="Times New Roman" panose="02020603050405020304" pitchFamily="18" charset="0"/>
            </a:endParaRPr>
          </a:p>
          <a:p>
            <a:pPr marL="503757" lvl="1" indent="-285750" eaLnBrk="0" fontAlgn="base" hangingPunct="0">
              <a:lnSpc>
                <a:spcPct val="100000"/>
              </a:lnSpc>
              <a:spcBef>
                <a:spcPct val="0"/>
              </a:spcBef>
              <a:spcAft>
                <a:spcPct val="0"/>
              </a:spcAft>
              <a:buClrTx/>
            </a:pPr>
            <a:r>
              <a:rPr lang="en-US" altLang="en-US" sz="1800" b="1" dirty="0">
                <a:latin typeface="Times New Roman" panose="02020603050405020304" pitchFamily="18" charset="0"/>
                <a:cs typeface="Times New Roman" panose="02020603050405020304" pitchFamily="18" charset="0"/>
              </a:rPr>
              <a:t>Guides Processes:</a:t>
            </a:r>
            <a:r>
              <a:rPr lang="en-US" altLang="en-US" sz="1800" dirty="0">
                <a:latin typeface="Times New Roman" panose="02020603050405020304" pitchFamily="18" charset="0"/>
                <a:cs typeface="Times New Roman" panose="02020603050405020304" pitchFamily="18" charset="0"/>
              </a:rPr>
              <a:t> ETL tools (e.g., Informatica, AWS Glue) use metadata to understand how to map and transform columns.</a:t>
            </a:r>
          </a:p>
          <a:p>
            <a:pPr marL="503757" lvl="1" indent="-285750" eaLnBrk="0" fontAlgn="base" hangingPunct="0">
              <a:lnSpc>
                <a:spcPct val="100000"/>
              </a:lnSpc>
              <a:spcBef>
                <a:spcPct val="0"/>
              </a:spcBef>
              <a:spcAft>
                <a:spcPct val="0"/>
              </a:spcAft>
              <a:buClrTx/>
            </a:pPr>
            <a:r>
              <a:rPr lang="en-US" altLang="en-US" sz="1800" b="1" dirty="0">
                <a:latin typeface="Times New Roman" panose="02020603050405020304" pitchFamily="18" charset="0"/>
                <a:cs typeface="Times New Roman" panose="02020603050405020304" pitchFamily="18" charset="0"/>
              </a:rPr>
              <a:t>Provides Data Lineage:</a:t>
            </a:r>
            <a:r>
              <a:rPr lang="en-US" altLang="en-US" sz="1800" dirty="0">
                <a:latin typeface="Times New Roman" panose="02020603050405020304" pitchFamily="18" charset="0"/>
                <a:cs typeface="Times New Roman" panose="02020603050405020304" pitchFamily="18" charset="0"/>
              </a:rPr>
              <a:t> Tracks data flow e.g., </a:t>
            </a:r>
            <a:r>
              <a:rPr lang="en-US" altLang="en-US" sz="1800" i="1" dirty="0" err="1">
                <a:latin typeface="Times New Roman" panose="02020603050405020304" pitchFamily="18" charset="0"/>
                <a:cs typeface="Times New Roman" panose="02020603050405020304" pitchFamily="18" charset="0"/>
              </a:rPr>
              <a:t>Order_Total</a:t>
            </a:r>
            <a:r>
              <a:rPr lang="en-US" altLang="en-US" sz="1800" dirty="0">
                <a:latin typeface="Times New Roman" panose="02020603050405020304" pitchFamily="18" charset="0"/>
                <a:cs typeface="Times New Roman" panose="02020603050405020304" pitchFamily="18" charset="0"/>
              </a:rPr>
              <a:t> in reports comes from </a:t>
            </a:r>
            <a:r>
              <a:rPr lang="en-US" altLang="en-US" sz="1800" i="1" dirty="0" err="1">
                <a:latin typeface="Times New Roman" panose="02020603050405020304" pitchFamily="18" charset="0"/>
                <a:cs typeface="Times New Roman" panose="02020603050405020304" pitchFamily="18" charset="0"/>
              </a:rPr>
              <a:t>sales_amount</a:t>
            </a:r>
            <a:r>
              <a:rPr lang="en-US" altLang="en-US" sz="1800" dirty="0">
                <a:latin typeface="Times New Roman" panose="02020603050405020304" pitchFamily="18" charset="0"/>
                <a:cs typeface="Times New Roman" panose="02020603050405020304" pitchFamily="18" charset="0"/>
              </a:rPr>
              <a:t> in the source system.</a:t>
            </a:r>
          </a:p>
          <a:p>
            <a:pPr marL="503757" lvl="1" indent="-285750" eaLnBrk="0" fontAlgn="base" hangingPunct="0">
              <a:lnSpc>
                <a:spcPct val="100000"/>
              </a:lnSpc>
              <a:spcBef>
                <a:spcPct val="0"/>
              </a:spcBef>
              <a:spcAft>
                <a:spcPct val="0"/>
              </a:spcAft>
              <a:buClrTx/>
            </a:pPr>
            <a:r>
              <a:rPr lang="en-US" altLang="en-US" sz="1800" b="1" dirty="0">
                <a:latin typeface="Times New Roman" panose="02020603050405020304" pitchFamily="18" charset="0"/>
                <a:cs typeface="Times New Roman" panose="02020603050405020304" pitchFamily="18" charset="0"/>
              </a:rPr>
              <a:t>Supports Governance:</a:t>
            </a:r>
            <a:r>
              <a:rPr lang="en-US" altLang="en-US" sz="1800" dirty="0">
                <a:latin typeface="Times New Roman" panose="02020603050405020304" pitchFamily="18" charset="0"/>
                <a:cs typeface="Times New Roman" panose="02020603050405020304" pitchFamily="18" charset="0"/>
              </a:rPr>
              <a:t> Ensures consistency by maintaining business rules and definitions.</a:t>
            </a:r>
          </a:p>
          <a:p>
            <a:pPr marL="503757" lvl="1" indent="-285750" eaLnBrk="0" fontAlgn="base" hangingPunct="0">
              <a:lnSpc>
                <a:spcPct val="100000"/>
              </a:lnSpc>
              <a:spcBef>
                <a:spcPct val="0"/>
              </a:spcBef>
              <a:spcAft>
                <a:spcPct val="0"/>
              </a:spcAft>
              <a:buClrTx/>
            </a:pPr>
            <a:endParaRPr lang="en-US" alt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r>
              <a:rPr lang="en-US" sz="1800" b="1" dirty="0">
                <a:latin typeface="Times New Roman" panose="02020603050405020304" pitchFamily="18" charset="0"/>
                <a:cs typeface="Times New Roman" panose="02020603050405020304" pitchFamily="18" charset="0"/>
              </a:rPr>
              <a:t>Technologies Used:</a:t>
            </a:r>
            <a:r>
              <a:rPr lang="en-US" sz="1800" dirty="0">
                <a:latin typeface="Times New Roman" panose="02020603050405020304" pitchFamily="18" charset="0"/>
                <a:cs typeface="Times New Roman" panose="02020603050405020304" pitchFamily="18" charset="0"/>
              </a:rPr>
              <a:t> Apache Atlas, AWS Glue Data Catalog, Azure Purview, Informatica Metadata Manager.</a:t>
            </a:r>
          </a:p>
          <a:p>
            <a:pPr marL="218007" lvl="1" indent="0" eaLnBrk="0" fontAlgn="base" hangingPunct="0">
              <a:lnSpc>
                <a:spcPct val="100000"/>
              </a:lnSpc>
              <a:spcBef>
                <a:spcPct val="0"/>
              </a:spcBef>
              <a:spcAft>
                <a:spcPct val="0"/>
              </a:spcAft>
              <a:buClrTx/>
              <a:buNone/>
            </a:pPr>
            <a:endParaRPr lang="en-US" alt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ClrTx/>
              <a:buNone/>
            </a:pPr>
            <a:r>
              <a:rPr lang="en-US" sz="1800" b="1" dirty="0">
                <a:latin typeface="Times New Roman" panose="02020603050405020304" pitchFamily="18" charset="0"/>
                <a:cs typeface="Times New Roman" panose="02020603050405020304" pitchFamily="18" charset="0"/>
              </a:rPr>
              <a:t>Real-World Example: </a:t>
            </a:r>
            <a:r>
              <a:rPr lang="en-US" sz="1800" dirty="0">
                <a:latin typeface="Times New Roman" panose="02020603050405020304" pitchFamily="18" charset="0"/>
                <a:cs typeface="Times New Roman" panose="02020603050405020304" pitchFamily="18" charset="0"/>
              </a:rPr>
              <a:t>In a banking system, the metadata layer documents how “Customer Credit Score” is calculated and from which systems (loan, transaction, and credit bureau data) it originates helping auditors and analysts trace the data source accurately.</a:t>
            </a:r>
          </a:p>
          <a:p>
            <a:pPr marL="0" indent="0">
              <a:lnSpc>
                <a:spcPct val="100000"/>
              </a:lnSpc>
              <a:buNone/>
            </a:pPr>
            <a:r>
              <a:rPr lang="en-US" sz="1800" b="1" dirty="0">
                <a:latin typeface="Times New Roman" panose="02020603050405020304" pitchFamily="18" charset="0"/>
                <a:cs typeface="Times New Roman" panose="02020603050405020304" pitchFamily="18" charset="0"/>
              </a:rPr>
              <a:t>Interaction:</a:t>
            </a:r>
            <a:r>
              <a:rPr lang="en-US" sz="1800" dirty="0">
                <a:latin typeface="Times New Roman" panose="02020603050405020304" pitchFamily="18" charset="0"/>
                <a:cs typeface="Times New Roman" panose="02020603050405020304" pitchFamily="18" charset="0"/>
              </a:rPr>
              <a:t> Interacts with every other layer in the architecture.</a:t>
            </a:r>
          </a:p>
          <a:p>
            <a:pPr>
              <a:lnSpc>
                <a:spcPct val="100000"/>
              </a:lnSpc>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0766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C16D3-92BD-9810-4B64-43240AA3ABE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Different Layers in Architecture</a:t>
            </a:r>
            <a:endParaRPr lang="en-US" dirty="0"/>
          </a:p>
        </p:txBody>
      </p:sp>
      <p:sp>
        <p:nvSpPr>
          <p:cNvPr id="5" name="TextBox 4">
            <a:extLst>
              <a:ext uri="{FF2B5EF4-FFF2-40B4-BE49-F238E27FC236}">
                <a16:creationId xmlns:a16="http://schemas.microsoft.com/office/drawing/2014/main" id="{24211FCF-67E1-C808-692D-93A7155A85D2}"/>
              </a:ext>
            </a:extLst>
          </p:cNvPr>
          <p:cNvSpPr txBox="1"/>
          <p:nvPr/>
        </p:nvSpPr>
        <p:spPr>
          <a:xfrm>
            <a:off x="491734" y="1139030"/>
            <a:ext cx="11196084" cy="4247317"/>
          </a:xfrm>
          <a:prstGeom prst="rect">
            <a:avLst/>
          </a:prstGeom>
          <a:noFill/>
        </p:spPr>
        <p:txBody>
          <a:bodyPr wrap="square">
            <a:spAutoFit/>
          </a:bodyPr>
          <a:lstStyle/>
          <a:p>
            <a:pPr>
              <a:buNone/>
            </a:pPr>
            <a:r>
              <a:rPr lang="en-US" b="1" dirty="0">
                <a:solidFill>
                  <a:schemeClr val="tx2">
                    <a:lumMod val="75000"/>
                    <a:lumOff val="25000"/>
                  </a:schemeClr>
                </a:solidFill>
                <a:latin typeface="Times New Roman" panose="02020603050405020304" pitchFamily="18" charset="0"/>
                <a:cs typeface="Times New Roman" panose="02020603050405020304" pitchFamily="18" charset="0"/>
              </a:rPr>
              <a:t>9. System Operations Layer:</a:t>
            </a:r>
            <a:r>
              <a:rPr lang="en-US" dirty="0">
                <a:solidFill>
                  <a:schemeClr val="tx2">
                    <a:lumMod val="75000"/>
                    <a:lumOff val="25000"/>
                  </a:schemeClr>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Manages the overall health, performance, and security of the data warehouse ecosystem.</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Key Functions: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Job Scheduling:</a:t>
            </a:r>
            <a:r>
              <a:rPr lang="en-US" dirty="0">
                <a:latin typeface="Times New Roman" panose="02020603050405020304" pitchFamily="18" charset="0"/>
                <a:cs typeface="Times New Roman" panose="02020603050405020304" pitchFamily="18" charset="0"/>
              </a:rPr>
              <a:t> Automates and schedules ETL jobs and other processes.</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Performance Monitoring:</a:t>
            </a:r>
            <a:r>
              <a:rPr lang="en-US" dirty="0">
                <a:latin typeface="Times New Roman" panose="02020603050405020304" pitchFamily="18" charset="0"/>
                <a:cs typeface="Times New Roman" panose="02020603050405020304" pitchFamily="18" charset="0"/>
              </a:rPr>
              <a:t> Tracks query performance, system load, and data loading times.</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Security Management:</a:t>
            </a:r>
            <a:r>
              <a:rPr lang="en-US" dirty="0">
                <a:latin typeface="Times New Roman" panose="02020603050405020304" pitchFamily="18" charset="0"/>
                <a:cs typeface="Times New Roman" panose="02020603050405020304" pitchFamily="18" charset="0"/>
              </a:rPr>
              <a:t> Handles user authentication, authorization, and data access policies.</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Backup and Recovery:</a:t>
            </a:r>
            <a:r>
              <a:rPr lang="en-US" dirty="0">
                <a:latin typeface="Times New Roman" panose="02020603050405020304" pitchFamily="18" charset="0"/>
                <a:cs typeface="Times New Roman" panose="02020603050405020304" pitchFamily="18" charset="0"/>
              </a:rPr>
              <a:t> Ensures the system can be restored in case of a failure.</a:t>
            </a: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Technologies Used: </a:t>
            </a:r>
            <a:r>
              <a:rPr lang="en-US" dirty="0">
                <a:latin typeface="Times New Roman" panose="02020603050405020304" pitchFamily="18" charset="0"/>
                <a:cs typeface="Times New Roman" panose="02020603050405020304" pitchFamily="18" charset="0"/>
              </a:rPr>
              <a:t>Apache Airflow, Control-M, </a:t>
            </a:r>
            <a:r>
              <a:rPr lang="en-US" dirty="0" err="1">
                <a:latin typeface="Times New Roman" panose="02020603050405020304" pitchFamily="18" charset="0"/>
                <a:cs typeface="Times New Roman" panose="02020603050405020304" pitchFamily="18" charset="0"/>
              </a:rPr>
              <a:t>cron</a:t>
            </a:r>
            <a:r>
              <a:rPr lang="en-US" dirty="0">
                <a:latin typeface="Times New Roman" panose="02020603050405020304" pitchFamily="18" charset="0"/>
                <a:cs typeface="Times New Roman" panose="02020603050405020304" pitchFamily="18" charset="0"/>
              </a:rPr>
              <a:t>, Grafana, Datadog.</a:t>
            </a:r>
          </a:p>
          <a:p>
            <a:pPr>
              <a:buNone/>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Real-World Example: </a:t>
            </a:r>
            <a:r>
              <a:rPr lang="en-US" dirty="0">
                <a:latin typeface="Times New Roman" panose="02020603050405020304" pitchFamily="18" charset="0"/>
                <a:cs typeface="Times New Roman" panose="02020603050405020304" pitchFamily="18" charset="0"/>
              </a:rPr>
              <a:t>At Netflix, Apache Airflow schedules daily ETL jobs to update recommendation models and dashboards, while Grafana monitors performance metrics and alerts engineers about failed pipelines or slow queries.</a:t>
            </a:r>
          </a:p>
          <a:p>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Interaction:</a:t>
            </a:r>
            <a:r>
              <a:rPr lang="en-US" dirty="0">
                <a:latin typeface="Times New Roman" panose="02020603050405020304" pitchFamily="18" charset="0"/>
                <a:cs typeface="Times New Roman" panose="02020603050405020304" pitchFamily="18" charset="0"/>
              </a:rPr>
              <a:t> Manages and monitors the Extraction, ETL, and Storage layers.</a:t>
            </a:r>
          </a:p>
          <a:p>
            <a:pPr>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084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C9AD6-0591-D042-B1B3-E0CF7C5678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761552-C309-0F47-FFA2-A680AEC4061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Different Layers in Architecture</a:t>
            </a:r>
            <a:endParaRPr lang="en-US" dirty="0"/>
          </a:p>
        </p:txBody>
      </p:sp>
      <p:sp>
        <p:nvSpPr>
          <p:cNvPr id="5" name="TextBox 4">
            <a:extLst>
              <a:ext uri="{FF2B5EF4-FFF2-40B4-BE49-F238E27FC236}">
                <a16:creationId xmlns:a16="http://schemas.microsoft.com/office/drawing/2014/main" id="{0C5A0FBB-7510-56F6-C048-43C44932A19B}"/>
              </a:ext>
            </a:extLst>
          </p:cNvPr>
          <p:cNvSpPr txBox="1"/>
          <p:nvPr/>
        </p:nvSpPr>
        <p:spPr>
          <a:xfrm>
            <a:off x="570392" y="1012185"/>
            <a:ext cx="11196084" cy="2951064"/>
          </a:xfrm>
          <a:prstGeom prst="rect">
            <a:avLst/>
          </a:prstGeom>
          <a:noFill/>
        </p:spPr>
        <p:txBody>
          <a:bodyPr wrap="square" lIns="91440" tIns="45720" rIns="91440" bIns="45720" anchor="t">
            <a:spAutoFit/>
          </a:bodyPr>
          <a:lstStyle/>
          <a:p>
            <a:pPr>
              <a:lnSpc>
                <a:spcPct val="150000"/>
              </a:lnSpc>
            </a:pPr>
            <a:r>
              <a:rPr lang="en-US" b="1" dirty="0">
                <a:solidFill>
                  <a:schemeClr val="tx2">
                    <a:lumMod val="75000"/>
                    <a:lumOff val="25000"/>
                  </a:schemeClr>
                </a:solidFill>
                <a:latin typeface="Times New Roman" panose="02020603050405020304" pitchFamily="18" charset="0"/>
                <a:cs typeface="Times New Roman" panose="02020603050405020304" pitchFamily="18" charset="0"/>
              </a:rPr>
              <a:t>Key Takeaways</a:t>
            </a:r>
          </a:p>
          <a:p>
            <a:pPr marL="285750" indent="-285750">
              <a:lnSpc>
                <a:spcPct val="150000"/>
              </a:lnSpc>
              <a:buFont typeface="Arial" panose="020B0604020202020204" pitchFamily="34" charset="0"/>
              <a:buChar char="•"/>
            </a:pPr>
            <a:r>
              <a:rPr lang="en-US" dirty="0">
                <a:latin typeface="Times New Roman"/>
                <a:cs typeface="Times New Roman"/>
              </a:rPr>
              <a:t>A data warehouse is a complex system best understood through its layered architecture.</a:t>
            </a:r>
          </a:p>
          <a:p>
            <a:pPr marL="285750" indent="-285750">
              <a:lnSpc>
                <a:spcPct val="150000"/>
              </a:lnSpc>
              <a:buFont typeface="Arial" panose="020B0604020202020204" pitchFamily="34" charset="0"/>
              <a:buChar char="•"/>
            </a:pPr>
            <a:r>
              <a:rPr lang="en-US" dirty="0">
                <a:latin typeface="Times New Roman"/>
                <a:cs typeface="Times New Roman"/>
              </a:rPr>
              <a:t>Each layer has a distinct purpose, from sourcing raw data to presenting insights.</a:t>
            </a:r>
          </a:p>
          <a:p>
            <a:pPr marL="285750" indent="-285750">
              <a:lnSpc>
                <a:spcPct val="150000"/>
              </a:lnSpc>
              <a:buFont typeface="Arial" panose="020B0604020202020204" pitchFamily="34" charset="0"/>
              <a:buChar char="•"/>
            </a:pPr>
            <a:r>
              <a:rPr lang="en-US" dirty="0">
                <a:latin typeface="Times New Roman"/>
                <a:cs typeface="Times New Roman"/>
              </a:rPr>
              <a:t>The flow of data is sequential: Source ➔ Staging ➔ ETL ➔ Storage ➔ Logic ➔ Presentation.</a:t>
            </a:r>
          </a:p>
          <a:p>
            <a:pPr marL="285750" indent="-285750">
              <a:lnSpc>
                <a:spcPct val="150000"/>
              </a:lnSpc>
              <a:buFont typeface="Arial" panose="020B0604020202020204" pitchFamily="34" charset="0"/>
              <a:buChar char="•"/>
            </a:pPr>
            <a:r>
              <a:rPr lang="en-US" dirty="0">
                <a:latin typeface="Times New Roman"/>
                <a:cs typeface="Times New Roman"/>
              </a:rPr>
              <a:t>Metadata and System Operations are critical overarching layers that provide context and control to the entire system.</a:t>
            </a:r>
          </a:p>
          <a:p>
            <a:pPr marL="285750" indent="-285750">
              <a:lnSpc>
                <a:spcPct val="150000"/>
              </a:lnSpc>
              <a:buFont typeface="Arial" panose="020B0604020202020204" pitchFamily="34" charset="0"/>
              <a:buChar char="•"/>
            </a:pPr>
            <a:r>
              <a:rPr lang="en-US" dirty="0">
                <a:latin typeface="Times New Roman"/>
                <a:cs typeface="Times New Roman"/>
              </a:rPr>
              <a:t>Understanding this architecture is essential for designing, building, and managing an effective data warehouse.</a:t>
            </a:r>
          </a:p>
          <a:p>
            <a:pPr>
              <a:lnSpc>
                <a:spcPct val="150000"/>
              </a:lnSpc>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27940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affa98b-6026-4c43-8670-8d5a7fdee18a" xsi:nil="true"/>
    <lcf76f155ced4ddcb4097134ff3c332f xmlns="f47ad30f-779d-4b00-ac13-afc37bf3bb1f">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38E86AC857CA04FBDBC5CBCF563035C" ma:contentTypeVersion="11" ma:contentTypeDescription="Create a new document." ma:contentTypeScope="" ma:versionID="adc95ffc6df870326fdebfb9e5cbca48">
  <xsd:schema xmlns:xsd="http://www.w3.org/2001/XMLSchema" xmlns:xs="http://www.w3.org/2001/XMLSchema" xmlns:p="http://schemas.microsoft.com/office/2006/metadata/properties" xmlns:ns2="f47ad30f-779d-4b00-ac13-afc37bf3bb1f" xmlns:ns3="0affa98b-6026-4c43-8670-8d5a7fdee18a" targetNamespace="http://schemas.microsoft.com/office/2006/metadata/properties" ma:root="true" ma:fieldsID="b8c5bbaf8523a9767c0db5a511e02705" ns2:_="" ns3:_="">
    <xsd:import namespace="f47ad30f-779d-4b00-ac13-afc37bf3bb1f"/>
    <xsd:import namespace="0affa98b-6026-4c43-8670-8d5a7fdee18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47ad30f-779d-4b00-ac13-afc37bf3bb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89bfc37-40e7-4ffb-8afd-edd6ddce3a97"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affa98b-6026-4c43-8670-8d5a7fdee18a"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016421c3-aacb-4fe6-97a7-abf04e632ebb}" ma:internalName="TaxCatchAll" ma:showField="CatchAllData" ma:web="0affa98b-6026-4c43-8670-8d5a7fdee1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DB9AF7-9BC3-4C93-976B-7B013864DCED}">
  <ds:schemaRefs>
    <ds:schemaRef ds:uri="http://schemas.microsoft.com/office/2006/metadata/properties"/>
    <ds:schemaRef ds:uri="http://schemas.microsoft.com/office/infopath/2007/PartnerControls"/>
    <ds:schemaRef ds:uri="0affa98b-6026-4c43-8670-8d5a7fdee18a"/>
    <ds:schemaRef ds:uri="f47ad30f-779d-4b00-ac13-afc37bf3bb1f"/>
  </ds:schemaRefs>
</ds:datastoreItem>
</file>

<file path=customXml/itemProps2.xml><?xml version="1.0" encoding="utf-8"?>
<ds:datastoreItem xmlns:ds="http://schemas.openxmlformats.org/officeDocument/2006/customXml" ds:itemID="{3DCBAEC8-E05E-4D8A-9797-44C8185926B7}">
  <ds:schemaRefs>
    <ds:schemaRef ds:uri="http://schemas.microsoft.com/sharepoint/v3/contenttype/forms"/>
  </ds:schemaRefs>
</ds:datastoreItem>
</file>

<file path=customXml/itemProps3.xml><?xml version="1.0" encoding="utf-8"?>
<ds:datastoreItem xmlns:ds="http://schemas.openxmlformats.org/officeDocument/2006/customXml" ds:itemID="{13703B7C-A212-400B-8C1C-A5DC8DDAFE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47ad30f-779d-4b00-ac13-afc37bf3bb1f"/>
    <ds:schemaRef ds:uri="0affa98b-6026-4c43-8670-8d5a7fdee1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4983</TotalTime>
  <Words>2025</Words>
  <Application>Microsoft Office PowerPoint</Application>
  <PresentationFormat>Widescreen</PresentationFormat>
  <Paragraphs>124</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Architectural Components of a Data Warehouse</vt:lpstr>
      <vt:lpstr>The Layered Architecture</vt:lpstr>
      <vt:lpstr>Different Layers in Architecture</vt:lpstr>
      <vt:lpstr>Different Layers in Architecture</vt:lpstr>
      <vt:lpstr>Different Layers in Architecture</vt:lpstr>
      <vt:lpstr>Different Layers in Architecture</vt:lpstr>
      <vt:lpstr>Different Layers in Architecture</vt:lpstr>
      <vt:lpstr>Different Layers in Architecture</vt:lpstr>
      <vt:lpstr>Different Layers in Architecture</vt:lpstr>
      <vt:lpstr>Different Layers in Architecture</vt:lpstr>
      <vt:lpstr>Different Layers in Architecture</vt:lpstr>
      <vt:lpstr>Different Layers in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Kalpana Pundir</dc:creator>
  <cp:lastModifiedBy>Kalpana Pundir</cp:lastModifiedBy>
  <cp:revision>18</cp:revision>
  <dcterms:created xsi:type="dcterms:W3CDTF">2025-10-30T11:28:22Z</dcterms:created>
  <dcterms:modified xsi:type="dcterms:W3CDTF">2025-11-05T11:33:27Z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0x010100238E86AC857CA04FBDBC5CBCF563035C</vt:lpwstr>
  </property>
  <property fmtid="{D5CDD505-2E9C-101B-9397-08002B2CF9AE}" pid="3" name="MediaServiceImageTags">
    <vt:lpwstr/>
  </property>
</Properties>
</file>